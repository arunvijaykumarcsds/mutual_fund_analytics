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144000" cx="16256000"/>
  <p:notesSz cx="9144000" cy="16256000"/>
  <p:embeddedFontLst>
    <p:embeddedFont>
      <p:font typeface="Oranienbaum"/>
      <p:regular r:id="rId21"/>
    </p:embeddedFon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AD9AEE-901A-43B7-B7BF-C3F24A0F04FD}">
  <a:tblStyle styleId="{2CAD9AEE-901A-43B7-B7BF-C3F24A0F04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QuattrocentoSans-regular.fntdata"/><Relationship Id="rId21" Type="http://schemas.openxmlformats.org/officeDocument/2006/relationships/font" Target="fonts/Oranienbaum-regular.fntdata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utualfundanalytics-a5cjfcqbqf5bb9bjydutnb.streamlit.app/" TargetMode="External"/><Relationship Id="rId4" Type="http://schemas.openxmlformats.org/officeDocument/2006/relationships/hyperlink" Target="https://github.com/ArunVijaykumarcsds/Mutual_Fund_Analytic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nmd47zlpalgwu/mnt/agents/output/mutual_fund_analytics/images/4_Blue_abstract_technology_fintech.png" id="17" name="Google Shape;17;p4"/>
          <p:cNvPicPr preferRelativeResize="0"/>
          <p:nvPr/>
        </p:nvPicPr>
        <p:blipFill rotWithShape="1">
          <a:blip r:embed="rId3">
            <a:alphaModFix/>
          </a:blip>
          <a:srcRect b="0" l="150" r="150" t="0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07101E">
                  <a:alpha val="94117"/>
                </a:srgbClr>
              </a:gs>
              <a:gs pos="50000">
                <a:srgbClr val="07101E">
                  <a:alpha val="87843"/>
                </a:srgbClr>
              </a:gs>
              <a:gs pos="100000">
                <a:srgbClr val="07101E">
                  <a:alpha val="94117"/>
                </a:srgbClr>
              </a:gs>
            </a:gsLst>
            <a:lin ang="5400000" scaled="0"/>
          </a:gra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0" y="0"/>
            <a:ext cx="1524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14732000" y="7620000"/>
            <a:ext cx="1524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7823200" y="1524000"/>
            <a:ext cx="609600" cy="609600"/>
          </a:xfrm>
          <a:custGeom>
            <a:rect b="b" l="l" r="r" t="t"/>
            <a:pathLst>
              <a:path extrusionOk="0" h="609600" w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6858000" y="2438400"/>
            <a:ext cx="2540000" cy="0"/>
          </a:xfrm>
          <a:prstGeom prst="straightConnector1">
            <a:avLst/>
          </a:prstGeom>
          <a:noFill/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6858000" y="2489200"/>
            <a:ext cx="2540000" cy="0"/>
          </a:xfrm>
          <a:prstGeom prst="straightConnector1">
            <a:avLst/>
          </a:prstGeom>
          <a:noFill/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/>
          <p:nvPr/>
        </p:nvSpPr>
        <p:spPr>
          <a:xfrm>
            <a:off x="1778000" y="2921000"/>
            <a:ext cx="1270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Mutual Fund Analytics Dashboard</a:t>
            </a:r>
            <a:endParaRPr b="0" i="0" sz="4400" u="none" cap="none" strike="noStrike"/>
          </a:p>
        </p:txBody>
      </p:sp>
      <p:sp>
        <p:nvSpPr>
          <p:cNvPr id="25" name="Google Shape;25;p4"/>
          <p:cNvSpPr/>
          <p:nvPr/>
        </p:nvSpPr>
        <p:spPr>
          <a:xfrm>
            <a:off x="3048000" y="3810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0E0EF"/>
                </a:solidFill>
                <a:latin typeface="Oranienbaum"/>
                <a:ea typeface="Oranienbaum"/>
                <a:cs typeface="Oranienbaum"/>
                <a:sym typeface="Oranienbaum"/>
              </a:rPr>
              <a:t>Capstone Project I – Mutual Fund Analytics</a:t>
            </a:r>
            <a:endParaRPr b="0" i="0" sz="2200" u="none" cap="none" strike="noStrike"/>
          </a:p>
        </p:txBody>
      </p:sp>
      <p:cxnSp>
        <p:nvCxnSpPr>
          <p:cNvPr id="26" name="Google Shape;26;p4"/>
          <p:cNvCxnSpPr/>
          <p:nvPr/>
        </p:nvCxnSpPr>
        <p:spPr>
          <a:xfrm>
            <a:off x="6223000" y="6604000"/>
            <a:ext cx="381000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4"/>
          <p:cNvSpPr/>
          <p:nvPr/>
        </p:nvSpPr>
        <p:spPr>
          <a:xfrm>
            <a:off x="4318000" y="68580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Arun Vk · Bluestock Fintech</a:t>
            </a:r>
            <a:endParaRPr b="0" i="0" sz="1600" u="none" cap="none" strike="noStrike"/>
          </a:p>
        </p:txBody>
      </p:sp>
      <p:sp>
        <p:nvSpPr>
          <p:cNvPr id="28" name="Google Shape;28;p4"/>
          <p:cNvSpPr/>
          <p:nvPr/>
        </p:nvSpPr>
        <p:spPr>
          <a:xfrm>
            <a:off x="4318000" y="72136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Analyst Internship Program</a:t>
            </a:r>
            <a:endParaRPr b="0" i="0" sz="1600" u="none" cap="none" strike="noStrike"/>
          </a:p>
        </p:txBody>
      </p:sp>
      <p:sp>
        <p:nvSpPr>
          <p:cNvPr id="29" name="Google Shape;29;p4"/>
          <p:cNvSpPr/>
          <p:nvPr/>
        </p:nvSpPr>
        <p:spPr>
          <a:xfrm>
            <a:off x="4318000" y="75692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 2026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Project Overview</a:t>
            </a:r>
            <a:endParaRPr b="0" i="0" sz="2400" u="none" cap="none" strike="noStrike"/>
          </a:p>
        </p:txBody>
      </p:sp>
      <p:sp>
        <p:nvSpPr>
          <p:cNvPr id="37" name="Google Shape;37;p5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300" u="none" cap="none" strike="noStrike"/>
          </a:p>
        </p:txBody>
      </p:sp>
      <p:sp>
        <p:nvSpPr>
          <p:cNvPr id="38" name="Google Shape;38;p5"/>
          <p:cNvSpPr/>
          <p:nvPr/>
        </p:nvSpPr>
        <p:spPr>
          <a:xfrm>
            <a:off x="812800" y="1016000"/>
            <a:ext cx="8128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Mutual Fund Analytics Dashboard</a:t>
            </a: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an end-to-end financial analytics platform developed using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Python, Pandas, SQLite, Scikit-Learn, Plotly,</a:t>
            </a: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</a:t>
            </a: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platform enables investors to: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 Explore mutual fund schemes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 Analyze performance metrics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 Assess investment risk</a:t>
            </a:r>
            <a:endParaRPr b="0" i="0" sz="1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 Generate personalized recommendations</a:t>
            </a:r>
            <a:endParaRPr b="0" i="0" sz="1800" u="none" cap="none" strike="noStrike"/>
          </a:p>
        </p:txBody>
      </p:sp>
      <p:sp>
        <p:nvSpPr>
          <p:cNvPr id="39" name="Google Shape;39;p5"/>
          <p:cNvSpPr/>
          <p:nvPr/>
        </p:nvSpPr>
        <p:spPr>
          <a:xfrm>
            <a:off x="9398000" y="1016000"/>
            <a:ext cx="6045200" cy="1524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9398000" y="1016000"/>
            <a:ext cx="604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9702800" y="13208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28588" y="200025"/>
                </a:moveTo>
                <a:cubicBezTo>
                  <a:pt x="144393" y="200025"/>
                  <a:pt x="157163" y="212794"/>
                  <a:pt x="157163" y="228600"/>
                </a:cubicBezTo>
                <a:lnTo>
                  <a:pt x="157163" y="285750"/>
                </a:lnTo>
                <a:cubicBezTo>
                  <a:pt x="157163" y="301556"/>
                  <a:pt x="144393" y="314325"/>
                  <a:pt x="128588" y="314325"/>
                </a:cubicBezTo>
                <a:cubicBezTo>
                  <a:pt x="112782" y="314325"/>
                  <a:pt x="100013" y="301556"/>
                  <a:pt x="100013" y="285750"/>
                </a:cubicBezTo>
                <a:lnTo>
                  <a:pt x="100013" y="228600"/>
                </a:lnTo>
                <a:cubicBezTo>
                  <a:pt x="100013" y="212794"/>
                  <a:pt x="112782" y="200025"/>
                  <a:pt x="128588" y="200025"/>
                </a:cubicBezTo>
                <a:close/>
                <a:moveTo>
                  <a:pt x="257175" y="142875"/>
                </a:moveTo>
                <a:lnTo>
                  <a:pt x="257175" y="285750"/>
                </a:lnTo>
                <a:cubicBezTo>
                  <a:pt x="257175" y="301556"/>
                  <a:pt x="244406" y="314325"/>
                  <a:pt x="228600" y="314325"/>
                </a:cubicBezTo>
                <a:cubicBezTo>
                  <a:pt x="212794" y="314325"/>
                  <a:pt x="200025" y="301556"/>
                  <a:pt x="200025" y="285750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28613" y="171450"/>
                </a:moveTo>
                <a:cubicBezTo>
                  <a:pt x="344418" y="171450"/>
                  <a:pt x="357188" y="184219"/>
                  <a:pt x="357188" y="200025"/>
                </a:cubicBezTo>
                <a:lnTo>
                  <a:pt x="357188" y="285750"/>
                </a:lnTo>
                <a:cubicBezTo>
                  <a:pt x="357188" y="301556"/>
                  <a:pt x="344418" y="314325"/>
                  <a:pt x="328613" y="314325"/>
                </a:cubicBezTo>
                <a:cubicBezTo>
                  <a:pt x="312807" y="314325"/>
                  <a:pt x="300038" y="301556"/>
                  <a:pt x="300038" y="285750"/>
                </a:cubicBezTo>
                <a:lnTo>
                  <a:pt x="300038" y="200025"/>
                </a:lnTo>
                <a:cubicBezTo>
                  <a:pt x="300038" y="184219"/>
                  <a:pt x="312807" y="171450"/>
                  <a:pt x="328613" y="171450"/>
                </a:cubicBezTo>
                <a:close/>
                <a:moveTo>
                  <a:pt x="457200" y="85725"/>
                </a:moveTo>
                <a:lnTo>
                  <a:pt x="457200" y="285750"/>
                </a:lnTo>
                <a:cubicBezTo>
                  <a:pt x="457200" y="301556"/>
                  <a:pt x="444431" y="314325"/>
                  <a:pt x="428625" y="314325"/>
                </a:cubicBezTo>
                <a:cubicBezTo>
                  <a:pt x="412819" y="314325"/>
                  <a:pt x="400050" y="301556"/>
                  <a:pt x="400050" y="285750"/>
                </a:cubicBezTo>
                <a:lnTo>
                  <a:pt x="400050" y="85725"/>
                </a:lnTo>
                <a:cubicBezTo>
                  <a:pt x="400050" y="69919"/>
                  <a:pt x="412819" y="57150"/>
                  <a:pt x="428625" y="57150"/>
                </a:cubicBezTo>
                <a:cubicBezTo>
                  <a:pt x="444431" y="57150"/>
                  <a:pt x="457200" y="69919"/>
                  <a:pt x="457200" y="85725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10337800" y="13208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Data Analytics</a:t>
            </a:r>
            <a:endParaRPr b="0" i="0" sz="1600" u="none" cap="none" strike="noStrike"/>
          </a:p>
        </p:txBody>
      </p:sp>
      <p:sp>
        <p:nvSpPr>
          <p:cNvPr id="43" name="Google Shape;43;p5"/>
          <p:cNvSpPr/>
          <p:nvPr/>
        </p:nvSpPr>
        <p:spPr>
          <a:xfrm>
            <a:off x="10337800" y="1727200"/>
            <a:ext cx="482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Processing and analyzing large-scale mutual fund datasets</a:t>
            </a:r>
            <a:endParaRPr b="0" i="0" sz="1600" u="none" cap="none" strike="noStrike"/>
          </a:p>
        </p:txBody>
      </p:sp>
      <p:sp>
        <p:nvSpPr>
          <p:cNvPr id="44" name="Google Shape;44;p5"/>
          <p:cNvSpPr/>
          <p:nvPr/>
        </p:nvSpPr>
        <p:spPr>
          <a:xfrm>
            <a:off x="9398000" y="2743200"/>
            <a:ext cx="6045200" cy="1524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9398000" y="2743200"/>
            <a:ext cx="604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9702800" y="304800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85725"/>
                </a:moveTo>
                <a:lnTo>
                  <a:pt x="114300" y="71438"/>
                </a:lnTo>
                <a:cubicBezTo>
                  <a:pt x="114300" y="31968"/>
                  <a:pt x="191095" y="0"/>
                  <a:pt x="285750" y="0"/>
                </a:cubicBezTo>
                <a:cubicBezTo>
                  <a:pt x="380405" y="0"/>
                  <a:pt x="457200" y="31968"/>
                  <a:pt x="457200" y="71438"/>
                </a:cubicBezTo>
                <a:lnTo>
                  <a:pt x="457200" y="85725"/>
                </a:lnTo>
                <a:cubicBezTo>
                  <a:pt x="457200" y="113050"/>
                  <a:pt x="420320" y="136803"/>
                  <a:pt x="366117" y="148858"/>
                </a:cubicBezTo>
                <a:cubicBezTo>
                  <a:pt x="363974" y="146358"/>
                  <a:pt x="361742" y="143947"/>
                  <a:pt x="359509" y="141714"/>
                </a:cubicBezTo>
                <a:cubicBezTo>
                  <a:pt x="345668" y="128052"/>
                  <a:pt x="327809" y="117693"/>
                  <a:pt x="309146" y="110014"/>
                </a:cubicBezTo>
                <a:cubicBezTo>
                  <a:pt x="271730" y="94387"/>
                  <a:pt x="222974" y="85814"/>
                  <a:pt x="171450" y="85814"/>
                </a:cubicBezTo>
                <a:cubicBezTo>
                  <a:pt x="151894" y="85814"/>
                  <a:pt x="132784" y="87064"/>
                  <a:pt x="114479" y="89475"/>
                </a:cubicBezTo>
                <a:cubicBezTo>
                  <a:pt x="114300" y="88315"/>
                  <a:pt x="114300" y="87064"/>
                  <a:pt x="114300" y="85814"/>
                </a:cubicBezTo>
                <a:close/>
                <a:moveTo>
                  <a:pt x="385763" y="315218"/>
                </a:moveTo>
                <a:lnTo>
                  <a:pt x="385763" y="273963"/>
                </a:lnTo>
                <a:cubicBezTo>
                  <a:pt x="399246" y="270480"/>
                  <a:pt x="411926" y="266373"/>
                  <a:pt x="423446" y="261551"/>
                </a:cubicBezTo>
                <a:cubicBezTo>
                  <a:pt x="435233" y="256639"/>
                  <a:pt x="446752" y="250656"/>
                  <a:pt x="457200" y="243423"/>
                </a:cubicBezTo>
                <a:lnTo>
                  <a:pt x="457200" y="257175"/>
                </a:lnTo>
                <a:cubicBezTo>
                  <a:pt x="457200" y="281107"/>
                  <a:pt x="429071" y="302270"/>
                  <a:pt x="385763" y="315218"/>
                </a:cubicBezTo>
                <a:close/>
                <a:moveTo>
                  <a:pt x="385763" y="229493"/>
                </a:moveTo>
                <a:lnTo>
                  <a:pt x="385763" y="200025"/>
                </a:lnTo>
                <a:cubicBezTo>
                  <a:pt x="385763" y="196007"/>
                  <a:pt x="385405" y="192167"/>
                  <a:pt x="384870" y="188416"/>
                </a:cubicBezTo>
                <a:cubicBezTo>
                  <a:pt x="398711" y="184934"/>
                  <a:pt x="411659" y="180737"/>
                  <a:pt x="423446" y="175736"/>
                </a:cubicBezTo>
                <a:cubicBezTo>
                  <a:pt x="435233" y="170736"/>
                  <a:pt x="446752" y="164842"/>
                  <a:pt x="457200" y="157609"/>
                </a:cubicBezTo>
                <a:lnTo>
                  <a:pt x="457200" y="171361"/>
                </a:lnTo>
                <a:cubicBezTo>
                  <a:pt x="457200" y="195292"/>
                  <a:pt x="429071" y="216456"/>
                  <a:pt x="385763" y="229404"/>
                </a:cubicBezTo>
                <a:close/>
                <a:moveTo>
                  <a:pt x="0" y="214313"/>
                </a:moveTo>
                <a:lnTo>
                  <a:pt x="0" y="200025"/>
                </a:lnTo>
                <a:cubicBezTo>
                  <a:pt x="0" y="160556"/>
                  <a:pt x="76795" y="128588"/>
                  <a:pt x="171450" y="128588"/>
                </a:cubicBezTo>
                <a:cubicBezTo>
                  <a:pt x="266105" y="128588"/>
                  <a:pt x="342900" y="160556"/>
                  <a:pt x="342900" y="200025"/>
                </a:cubicBezTo>
                <a:lnTo>
                  <a:pt x="342900" y="214313"/>
                </a:lnTo>
                <a:cubicBezTo>
                  <a:pt x="342900" y="253782"/>
                  <a:pt x="266105" y="285750"/>
                  <a:pt x="171450" y="285750"/>
                </a:cubicBezTo>
                <a:cubicBezTo>
                  <a:pt x="76795" y="285750"/>
                  <a:pt x="0" y="253782"/>
                  <a:pt x="0" y="214313"/>
                </a:cubicBezTo>
                <a:close/>
                <a:moveTo>
                  <a:pt x="342900" y="300038"/>
                </a:moveTo>
                <a:cubicBezTo>
                  <a:pt x="342900" y="339507"/>
                  <a:pt x="266105" y="371475"/>
                  <a:pt x="171450" y="371475"/>
                </a:cubicBezTo>
                <a:cubicBezTo>
                  <a:pt x="76795" y="371475"/>
                  <a:pt x="0" y="339507"/>
                  <a:pt x="0" y="300038"/>
                </a:cubicBezTo>
                <a:lnTo>
                  <a:pt x="0" y="286286"/>
                </a:lnTo>
                <a:cubicBezTo>
                  <a:pt x="10358" y="293519"/>
                  <a:pt x="21878" y="299412"/>
                  <a:pt x="33754" y="304413"/>
                </a:cubicBezTo>
                <a:cubicBezTo>
                  <a:pt x="71170" y="320040"/>
                  <a:pt x="119926" y="328613"/>
                  <a:pt x="171450" y="328613"/>
                </a:cubicBezTo>
                <a:cubicBezTo>
                  <a:pt x="222974" y="328613"/>
                  <a:pt x="271730" y="319951"/>
                  <a:pt x="309146" y="304413"/>
                </a:cubicBezTo>
                <a:cubicBezTo>
                  <a:pt x="320933" y="299502"/>
                  <a:pt x="332452" y="293519"/>
                  <a:pt x="342900" y="286286"/>
                </a:cubicBezTo>
                <a:lnTo>
                  <a:pt x="342900" y="300038"/>
                </a:lnTo>
                <a:close/>
                <a:moveTo>
                  <a:pt x="342900" y="372011"/>
                </a:moveTo>
                <a:lnTo>
                  <a:pt x="342900" y="385763"/>
                </a:lnTo>
                <a:cubicBezTo>
                  <a:pt x="342900" y="425232"/>
                  <a:pt x="266105" y="457200"/>
                  <a:pt x="171450" y="457200"/>
                </a:cubicBezTo>
                <a:cubicBezTo>
                  <a:pt x="76795" y="457200"/>
                  <a:pt x="0" y="425232"/>
                  <a:pt x="0" y="385763"/>
                </a:cubicBezTo>
                <a:lnTo>
                  <a:pt x="0" y="372011"/>
                </a:lnTo>
                <a:cubicBezTo>
                  <a:pt x="10358" y="379244"/>
                  <a:pt x="21878" y="385137"/>
                  <a:pt x="33754" y="390138"/>
                </a:cubicBezTo>
                <a:cubicBezTo>
                  <a:pt x="71170" y="405765"/>
                  <a:pt x="119926" y="414338"/>
                  <a:pt x="171450" y="414338"/>
                </a:cubicBezTo>
                <a:cubicBezTo>
                  <a:pt x="222974" y="414338"/>
                  <a:pt x="271730" y="405676"/>
                  <a:pt x="309146" y="390138"/>
                </a:cubicBezTo>
                <a:cubicBezTo>
                  <a:pt x="320933" y="385227"/>
                  <a:pt x="332452" y="379244"/>
                  <a:pt x="342900" y="372011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0337800" y="3048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Financial Analytics</a:t>
            </a:r>
            <a:endParaRPr b="0" i="0" sz="1600" u="none" cap="none" strike="noStrike"/>
          </a:p>
        </p:txBody>
      </p:sp>
      <p:sp>
        <p:nvSpPr>
          <p:cNvPr id="48" name="Google Shape;48;p5"/>
          <p:cNvSpPr/>
          <p:nvPr/>
        </p:nvSpPr>
        <p:spPr>
          <a:xfrm>
            <a:off x="10337800" y="3454400"/>
            <a:ext cx="482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Calculating CAGR, Sharpe Ratio, and risk-adjusted returns</a:t>
            </a:r>
            <a:endParaRPr b="0" i="0" sz="1600" u="none" cap="none" strike="noStrike"/>
          </a:p>
        </p:txBody>
      </p:sp>
      <p:sp>
        <p:nvSpPr>
          <p:cNvPr id="49" name="Google Shape;49;p5"/>
          <p:cNvSpPr/>
          <p:nvPr/>
        </p:nvSpPr>
        <p:spPr>
          <a:xfrm>
            <a:off x="9398000" y="4470400"/>
            <a:ext cx="6045200" cy="1524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9398000" y="4470400"/>
            <a:ext cx="604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9702800" y="4775200"/>
            <a:ext cx="457200" cy="457200"/>
          </a:xfrm>
          <a:custGeom>
            <a:rect b="b" l="l" r="r" t="t"/>
            <a:pathLst>
              <a:path extrusionOk="0" h="457200" w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10337800" y="47752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Dashboard Development</a:t>
            </a:r>
            <a:endParaRPr b="0" i="0" sz="1600" u="none" cap="none" strike="noStrike"/>
          </a:p>
        </p:txBody>
      </p:sp>
      <p:sp>
        <p:nvSpPr>
          <p:cNvPr id="53" name="Google Shape;53;p5"/>
          <p:cNvSpPr/>
          <p:nvPr/>
        </p:nvSpPr>
        <p:spPr>
          <a:xfrm>
            <a:off x="10337800" y="5181600"/>
            <a:ext cx="482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Streamlit dashboard with real-time filters</a:t>
            </a:r>
            <a:endParaRPr b="0" i="0" sz="1600" u="none" cap="none" strike="noStrike"/>
          </a:p>
        </p:txBody>
      </p:sp>
      <p:sp>
        <p:nvSpPr>
          <p:cNvPr id="54" name="Google Shape;54;p5"/>
          <p:cNvSpPr/>
          <p:nvPr/>
        </p:nvSpPr>
        <p:spPr>
          <a:xfrm>
            <a:off x="9398000" y="6197600"/>
            <a:ext cx="6045200" cy="1524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398000" y="6197600"/>
            <a:ext cx="604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9702800" y="6502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0337800" y="65024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Fintech Applications</a:t>
            </a:r>
            <a:endParaRPr b="0" i="0" sz="1600" u="none" cap="none" strike="noStrike"/>
          </a:p>
        </p:txBody>
      </p:sp>
      <p:sp>
        <p:nvSpPr>
          <p:cNvPr id="58" name="Google Shape;58;p5"/>
          <p:cNvSpPr/>
          <p:nvPr/>
        </p:nvSpPr>
        <p:spPr>
          <a:xfrm>
            <a:off x="10337800" y="6908800"/>
            <a:ext cx="482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fintech solution for investment decision support</a:t>
            </a:r>
            <a:endParaRPr b="0" i="0" sz="1600" u="none" cap="none" strike="noStrike"/>
          </a:p>
        </p:txBody>
      </p:sp>
      <p:pic>
        <p:nvPicPr>
          <p:cNvPr descr="https://kimi-img.moonshot.cn/pub/slides/okc/nmd47zlpalgwu/mnt/agents/output/mutual_fund_analytics/images/2_Investment_dashboard_by_Mike_Dribbbl.png" id="59" name="Google Shape;59;p5"/>
          <p:cNvPicPr preferRelativeResize="0"/>
          <p:nvPr/>
        </p:nvPicPr>
        <p:blipFill rotWithShape="1">
          <a:blip r:embed="rId3">
            <a:alphaModFix/>
          </a:blip>
          <a:srcRect b="22917" l="0" r="0" t="22917"/>
          <a:stretch/>
        </p:blipFill>
        <p:spPr>
          <a:xfrm>
            <a:off x="812800" y="4826000"/>
            <a:ext cx="8128000" cy="33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Problem Statement</a:t>
            </a:r>
            <a:endParaRPr b="0" i="0" sz="1600" u="none" cap="none" strike="noStrike"/>
          </a:p>
        </p:txBody>
      </p:sp>
      <p:sp>
        <p:nvSpPr>
          <p:cNvPr id="67" name="Google Shape;67;p6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68" name="Google Shape;68;p6"/>
          <p:cNvSpPr/>
          <p:nvPr/>
        </p:nvSpPr>
        <p:spPr>
          <a:xfrm>
            <a:off x="812800" y="10160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Challenges Investors Face</a:t>
            </a:r>
            <a:endParaRPr b="0" i="0" sz="1600" u="none" cap="none" strike="noStrike"/>
          </a:p>
        </p:txBody>
      </p:sp>
      <p:sp>
        <p:nvSpPr>
          <p:cNvPr id="69" name="Google Shape;69;p6"/>
          <p:cNvSpPr/>
          <p:nvPr/>
        </p:nvSpPr>
        <p:spPr>
          <a:xfrm>
            <a:off x="812800" y="1625600"/>
            <a:ext cx="7620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12800" y="1625600"/>
            <a:ext cx="50800" cy="127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1066800" y="1930400"/>
            <a:ext cx="406400" cy="406400"/>
          </a:xfrm>
          <a:custGeom>
            <a:rect b="b" l="l" r="r" t="t"/>
            <a:pathLst>
              <a:path extrusionOk="0" h="406400" w="406400">
                <a:moveTo>
                  <a:pt x="38100" y="114300"/>
                </a:moveTo>
                <a:cubicBezTo>
                  <a:pt x="59128" y="114300"/>
                  <a:pt x="76200" y="97228"/>
                  <a:pt x="76200" y="76200"/>
                </a:cubicBezTo>
                <a:cubicBezTo>
                  <a:pt x="76200" y="55172"/>
                  <a:pt x="59128" y="38100"/>
                  <a:pt x="38100" y="38100"/>
                </a:cubicBezTo>
                <a:cubicBezTo>
                  <a:pt x="17072" y="38100"/>
                  <a:pt x="0" y="55172"/>
                  <a:pt x="0" y="76200"/>
                </a:cubicBezTo>
                <a:cubicBezTo>
                  <a:pt x="0" y="97228"/>
                  <a:pt x="17072" y="114300"/>
                  <a:pt x="38100" y="114300"/>
                </a:cubicBezTo>
                <a:close/>
                <a:moveTo>
                  <a:pt x="152400" y="50800"/>
                </a:moveTo>
                <a:cubicBezTo>
                  <a:pt x="138351" y="50800"/>
                  <a:pt x="127000" y="62151"/>
                  <a:pt x="127000" y="76200"/>
                </a:cubicBezTo>
                <a:cubicBezTo>
                  <a:pt x="127000" y="90249"/>
                  <a:pt x="138351" y="101600"/>
                  <a:pt x="152400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152400" y="50800"/>
                </a:lnTo>
                <a:close/>
                <a:moveTo>
                  <a:pt x="152400" y="177800"/>
                </a:moveTo>
                <a:cubicBezTo>
                  <a:pt x="138351" y="177800"/>
                  <a:pt x="127000" y="189151"/>
                  <a:pt x="127000" y="203200"/>
                </a:cubicBezTo>
                <a:cubicBezTo>
                  <a:pt x="127000" y="217249"/>
                  <a:pt x="138351" y="228600"/>
                  <a:pt x="152400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152400" y="177800"/>
                </a:lnTo>
                <a:close/>
                <a:moveTo>
                  <a:pt x="152400" y="304800"/>
                </a:moveTo>
                <a:cubicBezTo>
                  <a:pt x="138351" y="304800"/>
                  <a:pt x="127000" y="316151"/>
                  <a:pt x="127000" y="330200"/>
                </a:cubicBezTo>
                <a:cubicBezTo>
                  <a:pt x="127000" y="344249"/>
                  <a:pt x="138351" y="355600"/>
                  <a:pt x="152400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52400" y="304800"/>
                </a:lnTo>
                <a:close/>
                <a:moveTo>
                  <a:pt x="38100" y="368300"/>
                </a:moveTo>
                <a:cubicBezTo>
                  <a:pt x="59128" y="368300"/>
                  <a:pt x="76200" y="351228"/>
                  <a:pt x="76200" y="330200"/>
                </a:cubicBezTo>
                <a:cubicBezTo>
                  <a:pt x="76200" y="309172"/>
                  <a:pt x="59128" y="292100"/>
                  <a:pt x="38100" y="292100"/>
                </a:cubicBezTo>
                <a:cubicBezTo>
                  <a:pt x="17072" y="292100"/>
                  <a:pt x="0" y="309172"/>
                  <a:pt x="0" y="330200"/>
                </a:cubicBezTo>
                <a:cubicBezTo>
                  <a:pt x="0" y="351228"/>
                  <a:pt x="17072" y="368300"/>
                  <a:pt x="38100" y="368300"/>
                </a:cubicBezTo>
                <a:close/>
                <a:moveTo>
                  <a:pt x="76200" y="203200"/>
                </a:moveTo>
                <a:cubicBezTo>
                  <a:pt x="76200" y="182172"/>
                  <a:pt x="59128" y="165100"/>
                  <a:pt x="38100" y="165100"/>
                </a:cubicBezTo>
                <a:cubicBezTo>
                  <a:pt x="17072" y="165100"/>
                  <a:pt x="0" y="182172"/>
                  <a:pt x="0" y="203200"/>
                </a:cubicBezTo>
                <a:cubicBezTo>
                  <a:pt x="0" y="224228"/>
                  <a:pt x="17072" y="241300"/>
                  <a:pt x="38100" y="241300"/>
                </a:cubicBezTo>
                <a:cubicBezTo>
                  <a:pt x="59128" y="241300"/>
                  <a:pt x="76200" y="224228"/>
                  <a:pt x="76200" y="2032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651000" y="18288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Large Number of Available Schemes</a:t>
            </a:r>
            <a:endParaRPr b="0" i="0" sz="16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1651000" y="21844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Thousands of mutual fund schemes make selection overwhelming for investors</a:t>
            </a:r>
            <a:endParaRPr b="0" i="0" sz="1600" u="none" cap="none" strike="noStrike"/>
          </a:p>
        </p:txBody>
      </p:sp>
      <p:sp>
        <p:nvSpPr>
          <p:cNvPr id="74" name="Google Shape;74;p6"/>
          <p:cNvSpPr/>
          <p:nvPr/>
        </p:nvSpPr>
        <p:spPr>
          <a:xfrm>
            <a:off x="812800" y="3098800"/>
            <a:ext cx="7620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12800" y="3098800"/>
            <a:ext cx="50800" cy="127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1117600" y="3403600"/>
            <a:ext cx="304800" cy="406400"/>
          </a:xfrm>
          <a:custGeom>
            <a:rect b="b" l="l" r="r" t="t"/>
            <a:pathLst>
              <a:path extrusionOk="0" h="406400" w="3048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50800"/>
                </a:lnTo>
                <a:cubicBezTo>
                  <a:pt x="304800" y="22781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76200" y="50800"/>
                </a:moveTo>
                <a:lnTo>
                  <a:pt x="228600" y="50800"/>
                </a:lnTo>
                <a:cubicBezTo>
                  <a:pt x="242649" y="50800"/>
                  <a:pt x="254000" y="62151"/>
                  <a:pt x="254000" y="762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76200" y="127000"/>
                </a:lnTo>
                <a:cubicBezTo>
                  <a:pt x="62151" y="127000"/>
                  <a:pt x="50800" y="115649"/>
                  <a:pt x="50800" y="101600"/>
                </a:cubicBezTo>
                <a:lnTo>
                  <a:pt x="50800" y="76200"/>
                </a:lnTo>
                <a:cubicBezTo>
                  <a:pt x="50800" y="62151"/>
                  <a:pt x="62151" y="50800"/>
                  <a:pt x="76200" y="50800"/>
                </a:cubicBezTo>
                <a:close/>
                <a:moveTo>
                  <a:pt x="88900" y="184150"/>
                </a:moveTo>
                <a:cubicBezTo>
                  <a:pt x="88900" y="194664"/>
                  <a:pt x="80364" y="203200"/>
                  <a:pt x="69850" y="203200"/>
                </a:cubicBezTo>
                <a:cubicBezTo>
                  <a:pt x="59336" y="203200"/>
                  <a:pt x="50800" y="194664"/>
                  <a:pt x="50800" y="184150"/>
                </a:cubicBezTo>
                <a:cubicBezTo>
                  <a:pt x="50800" y="173636"/>
                  <a:pt x="59336" y="165100"/>
                  <a:pt x="69850" y="165100"/>
                </a:cubicBezTo>
                <a:cubicBezTo>
                  <a:pt x="80364" y="165100"/>
                  <a:pt x="88900" y="173636"/>
                  <a:pt x="88900" y="184150"/>
                </a:cubicBezTo>
                <a:close/>
                <a:moveTo>
                  <a:pt x="152400" y="203200"/>
                </a:moveTo>
                <a:cubicBezTo>
                  <a:pt x="141886" y="203200"/>
                  <a:pt x="133350" y="194664"/>
                  <a:pt x="133350" y="184150"/>
                </a:cubicBezTo>
                <a:cubicBezTo>
                  <a:pt x="133350" y="173636"/>
                  <a:pt x="141886" y="165100"/>
                  <a:pt x="152400" y="165100"/>
                </a:cubicBezTo>
                <a:cubicBezTo>
                  <a:pt x="162914" y="165100"/>
                  <a:pt x="171450" y="173636"/>
                  <a:pt x="171450" y="184150"/>
                </a:cubicBezTo>
                <a:cubicBezTo>
                  <a:pt x="171450" y="194664"/>
                  <a:pt x="162914" y="203200"/>
                  <a:pt x="152400" y="203200"/>
                </a:cubicBezTo>
                <a:close/>
                <a:moveTo>
                  <a:pt x="254000" y="184150"/>
                </a:moveTo>
                <a:cubicBezTo>
                  <a:pt x="254000" y="194664"/>
                  <a:pt x="245464" y="203200"/>
                  <a:pt x="234950" y="203200"/>
                </a:cubicBezTo>
                <a:cubicBezTo>
                  <a:pt x="224436" y="203200"/>
                  <a:pt x="215900" y="194664"/>
                  <a:pt x="215900" y="184150"/>
                </a:cubicBezTo>
                <a:cubicBezTo>
                  <a:pt x="215900" y="173636"/>
                  <a:pt x="224436" y="165100"/>
                  <a:pt x="234950" y="165100"/>
                </a:cubicBezTo>
                <a:cubicBezTo>
                  <a:pt x="245464" y="165100"/>
                  <a:pt x="254000" y="173636"/>
                  <a:pt x="254000" y="184150"/>
                </a:cubicBezTo>
                <a:close/>
                <a:moveTo>
                  <a:pt x="69850" y="279400"/>
                </a:moveTo>
                <a:cubicBezTo>
                  <a:pt x="59336" y="279400"/>
                  <a:pt x="50800" y="270864"/>
                  <a:pt x="50800" y="260350"/>
                </a:cubicBezTo>
                <a:cubicBezTo>
                  <a:pt x="50800" y="249836"/>
                  <a:pt x="59336" y="241300"/>
                  <a:pt x="69850" y="241300"/>
                </a:cubicBezTo>
                <a:cubicBezTo>
                  <a:pt x="80364" y="241300"/>
                  <a:pt x="88900" y="249836"/>
                  <a:pt x="88900" y="260350"/>
                </a:cubicBezTo>
                <a:cubicBezTo>
                  <a:pt x="88900" y="270864"/>
                  <a:pt x="80364" y="279400"/>
                  <a:pt x="69850" y="279400"/>
                </a:cubicBezTo>
                <a:close/>
                <a:moveTo>
                  <a:pt x="171450" y="260350"/>
                </a:moveTo>
                <a:cubicBezTo>
                  <a:pt x="171450" y="270864"/>
                  <a:pt x="162914" y="279400"/>
                  <a:pt x="152400" y="279400"/>
                </a:cubicBezTo>
                <a:cubicBezTo>
                  <a:pt x="141886" y="279400"/>
                  <a:pt x="133350" y="270864"/>
                  <a:pt x="133350" y="260350"/>
                </a:cubicBezTo>
                <a:cubicBezTo>
                  <a:pt x="133350" y="249836"/>
                  <a:pt x="141886" y="241300"/>
                  <a:pt x="152400" y="241300"/>
                </a:cubicBezTo>
                <a:cubicBezTo>
                  <a:pt x="162914" y="241300"/>
                  <a:pt x="171450" y="249836"/>
                  <a:pt x="171450" y="260350"/>
                </a:cubicBezTo>
                <a:close/>
                <a:moveTo>
                  <a:pt x="234950" y="279400"/>
                </a:moveTo>
                <a:cubicBezTo>
                  <a:pt x="224436" y="279400"/>
                  <a:pt x="215900" y="270864"/>
                  <a:pt x="215900" y="260350"/>
                </a:cubicBezTo>
                <a:cubicBezTo>
                  <a:pt x="215900" y="249836"/>
                  <a:pt x="224436" y="241300"/>
                  <a:pt x="234950" y="241300"/>
                </a:cubicBezTo>
                <a:cubicBezTo>
                  <a:pt x="245464" y="241300"/>
                  <a:pt x="254000" y="249836"/>
                  <a:pt x="254000" y="260350"/>
                </a:cubicBezTo>
                <a:cubicBezTo>
                  <a:pt x="254000" y="270864"/>
                  <a:pt x="245464" y="279400"/>
                  <a:pt x="234950" y="279400"/>
                </a:cubicBezTo>
                <a:close/>
                <a:moveTo>
                  <a:pt x="50800" y="336550"/>
                </a:moveTo>
                <a:cubicBezTo>
                  <a:pt x="50800" y="325993"/>
                  <a:pt x="59293" y="317500"/>
                  <a:pt x="69850" y="317500"/>
                </a:cubicBezTo>
                <a:lnTo>
                  <a:pt x="158750" y="317500"/>
                </a:lnTo>
                <a:cubicBezTo>
                  <a:pt x="169307" y="317500"/>
                  <a:pt x="177800" y="325993"/>
                  <a:pt x="177800" y="336550"/>
                </a:cubicBezTo>
                <a:cubicBezTo>
                  <a:pt x="177800" y="347107"/>
                  <a:pt x="169307" y="355600"/>
                  <a:pt x="158750" y="355600"/>
                </a:cubicBezTo>
                <a:lnTo>
                  <a:pt x="69850" y="355600"/>
                </a:lnTo>
                <a:cubicBezTo>
                  <a:pt x="59293" y="355600"/>
                  <a:pt x="50800" y="347107"/>
                  <a:pt x="50800" y="336550"/>
                </a:cubicBezTo>
                <a:close/>
                <a:moveTo>
                  <a:pt x="234950" y="317500"/>
                </a:moveTo>
                <a:cubicBezTo>
                  <a:pt x="245507" y="317500"/>
                  <a:pt x="254000" y="325993"/>
                  <a:pt x="254000" y="336550"/>
                </a:cubicBezTo>
                <a:cubicBezTo>
                  <a:pt x="254000" y="347107"/>
                  <a:pt x="245507" y="355600"/>
                  <a:pt x="234950" y="355600"/>
                </a:cubicBezTo>
                <a:cubicBezTo>
                  <a:pt x="224393" y="355600"/>
                  <a:pt x="215900" y="347107"/>
                  <a:pt x="215900" y="336550"/>
                </a:cubicBezTo>
                <a:cubicBezTo>
                  <a:pt x="215900" y="325993"/>
                  <a:pt x="224393" y="317500"/>
                  <a:pt x="234950" y="3175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1651000" y="33020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Complex Financial Metrics</a:t>
            </a:r>
            <a:endParaRPr b="0" i="0" sz="160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1651000" y="36576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NAV, expense ratio, Sharpe ratio, and other metrics are difficult to interpret</a:t>
            </a:r>
            <a:endParaRPr b="0" i="0" sz="1600" u="none" cap="none" strike="noStrike"/>
          </a:p>
        </p:txBody>
      </p:sp>
      <p:sp>
        <p:nvSpPr>
          <p:cNvPr id="79" name="Google Shape;79;p6"/>
          <p:cNvSpPr/>
          <p:nvPr/>
        </p:nvSpPr>
        <p:spPr>
          <a:xfrm>
            <a:off x="812800" y="4572000"/>
            <a:ext cx="7620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12800" y="4572000"/>
            <a:ext cx="50800" cy="127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066800" y="4876800"/>
            <a:ext cx="406400" cy="406400"/>
          </a:xfrm>
          <a:custGeom>
            <a:rect b="b" l="l" r="r" t="t"/>
            <a:pathLst>
              <a:path extrusionOk="0" h="406400" w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651000" y="47752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Manual Comparison is Time Consuming</a:t>
            </a:r>
            <a:endParaRPr b="0" i="0" sz="1600" u="none" cap="none" strike="noStrike"/>
          </a:p>
        </p:txBody>
      </p:sp>
      <p:sp>
        <p:nvSpPr>
          <p:cNvPr id="83" name="Google Shape;83;p6"/>
          <p:cNvSpPr/>
          <p:nvPr/>
        </p:nvSpPr>
        <p:spPr>
          <a:xfrm>
            <a:off x="1651000" y="51308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Comparing funds across multiple parameters manually takes hours of research</a:t>
            </a:r>
            <a:endParaRPr b="0" i="0" sz="1600" u="none" cap="none" strike="noStrike"/>
          </a:p>
        </p:txBody>
      </p:sp>
      <p:sp>
        <p:nvSpPr>
          <p:cNvPr id="84" name="Google Shape;84;p6"/>
          <p:cNvSpPr/>
          <p:nvPr/>
        </p:nvSpPr>
        <p:spPr>
          <a:xfrm>
            <a:off x="812800" y="6045200"/>
            <a:ext cx="7620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812800" y="6045200"/>
            <a:ext cx="50800" cy="127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1066800" y="6350000"/>
            <a:ext cx="406400" cy="406400"/>
          </a:xfrm>
          <a:custGeom>
            <a:rect b="b" l="l" r="r" t="t"/>
            <a:pathLst>
              <a:path extrusionOk="0" h="406400" w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651000" y="62484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Risk Assessment is Difficult</a:t>
            </a:r>
            <a:endParaRPr b="0" i="0" sz="1600" u="none" cap="none" strike="noStrike"/>
          </a:p>
        </p:txBody>
      </p:sp>
      <p:sp>
        <p:nvSpPr>
          <p:cNvPr id="88" name="Google Shape;88;p6"/>
          <p:cNvSpPr/>
          <p:nvPr/>
        </p:nvSpPr>
        <p:spPr>
          <a:xfrm>
            <a:off x="1651000" y="66040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Evaluating volatility, drawdown, and VaR requires specialized knowledge</a:t>
            </a:r>
            <a:endParaRPr b="0" i="0" sz="1600" u="none" cap="none" strike="noStrike"/>
          </a:p>
        </p:txBody>
      </p:sp>
      <p:sp>
        <p:nvSpPr>
          <p:cNvPr id="89" name="Google Shape;89;p6"/>
          <p:cNvSpPr/>
          <p:nvPr/>
        </p:nvSpPr>
        <p:spPr>
          <a:xfrm>
            <a:off x="8890000" y="1625600"/>
            <a:ext cx="6553200" cy="56896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9271000" y="2032000"/>
            <a:ext cx="5791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The Need</a:t>
            </a:r>
            <a:endParaRPr b="0" i="0" sz="1600" u="none" cap="none" strike="noStrike"/>
          </a:p>
        </p:txBody>
      </p:sp>
      <p:cxnSp>
        <p:nvCxnSpPr>
          <p:cNvPr id="91" name="Google Shape;91;p6"/>
          <p:cNvCxnSpPr/>
          <p:nvPr/>
        </p:nvCxnSpPr>
        <p:spPr>
          <a:xfrm>
            <a:off x="9271000" y="2540000"/>
            <a:ext cx="127000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9271000" y="2794000"/>
            <a:ext cx="57912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analytics system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capable of generating meaningful insights and personalized recommendations.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Such a system would enable investors to:</a:t>
            </a:r>
            <a:endParaRPr b="0" i="0" sz="1600" u="none" cap="none" strike="noStrike"/>
          </a:p>
        </p:txBody>
      </p:sp>
      <p:sp>
        <p:nvSpPr>
          <p:cNvPr id="93" name="Google Shape;93;p6"/>
          <p:cNvSpPr/>
          <p:nvPr/>
        </p:nvSpPr>
        <p:spPr>
          <a:xfrm>
            <a:off x="9271000" y="5334000"/>
            <a:ext cx="57912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 Make data-driven investment decisions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 Compare funds efficiently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 Understand risk profiles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 Receive tailored recommendations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Project Objectives</a:t>
            </a:r>
            <a:endParaRPr b="0" i="0" sz="1600" u="none" cap="none" strike="noStrike"/>
          </a:p>
        </p:txBody>
      </p:sp>
      <p:sp>
        <p:nvSpPr>
          <p:cNvPr id="101" name="Google Shape;101;p7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/>
          </a:p>
        </p:txBody>
      </p:sp>
      <p:sp>
        <p:nvSpPr>
          <p:cNvPr id="102" name="Google Shape;102;p7"/>
          <p:cNvSpPr/>
          <p:nvPr/>
        </p:nvSpPr>
        <p:spPr>
          <a:xfrm>
            <a:off x="812800" y="965200"/>
            <a:ext cx="34544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812800" y="965200"/>
            <a:ext cx="34544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038225" y="1193800"/>
            <a:ext cx="311150" cy="355600"/>
          </a:xfrm>
          <a:custGeom>
            <a:rect b="b" l="l" r="r" t="t"/>
            <a:pathLst>
              <a:path extrusionOk="0" h="355600" w="31115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016000" y="1625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Collect Datasets</a:t>
            </a:r>
            <a:endParaRPr b="0" i="0" sz="1600" u="none" cap="none" strike="noStrike"/>
          </a:p>
        </p:txBody>
      </p:sp>
      <p:sp>
        <p:nvSpPr>
          <p:cNvPr id="106" name="Google Shape;106;p7"/>
          <p:cNvSpPr/>
          <p:nvPr/>
        </p:nvSpPr>
        <p:spPr>
          <a:xfrm>
            <a:off x="1016000" y="19812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Gather mutual fund data from multiple sources</a:t>
            </a:r>
            <a:endParaRPr b="0" i="0" sz="1600" u="none" cap="none" strike="noStrike"/>
          </a:p>
        </p:txBody>
      </p:sp>
      <p:sp>
        <p:nvSpPr>
          <p:cNvPr id="107" name="Google Shape;107;p7"/>
          <p:cNvSpPr/>
          <p:nvPr/>
        </p:nvSpPr>
        <p:spPr>
          <a:xfrm>
            <a:off x="4521200" y="965200"/>
            <a:ext cx="34544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21200" y="965200"/>
            <a:ext cx="34544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702175" y="1193800"/>
            <a:ext cx="400050" cy="355600"/>
          </a:xfrm>
          <a:custGeom>
            <a:rect b="b" l="l" r="r" t="t"/>
            <a:pathLst>
              <a:path extrusionOk="0" h="355600" w="400050">
                <a:moveTo>
                  <a:pt x="393521" y="37921"/>
                </a:moveTo>
                <a:cubicBezTo>
                  <a:pt x="402203" y="29240"/>
                  <a:pt x="402203" y="15141"/>
                  <a:pt x="393521" y="6459"/>
                </a:cubicBezTo>
                <a:cubicBezTo>
                  <a:pt x="384840" y="-2222"/>
                  <a:pt x="370741" y="-2222"/>
                  <a:pt x="362059" y="6459"/>
                </a:cubicBezTo>
                <a:lnTo>
                  <a:pt x="228709" y="139809"/>
                </a:lnTo>
                <a:lnTo>
                  <a:pt x="204609" y="115709"/>
                </a:lnTo>
                <a:cubicBezTo>
                  <a:pt x="201692" y="112792"/>
                  <a:pt x="197664" y="111125"/>
                  <a:pt x="193496" y="111125"/>
                </a:cubicBezTo>
                <a:cubicBezTo>
                  <a:pt x="184815" y="111125"/>
                  <a:pt x="177800" y="118140"/>
                  <a:pt x="177800" y="126821"/>
                </a:cubicBezTo>
                <a:lnTo>
                  <a:pt x="177800" y="147032"/>
                </a:lnTo>
                <a:lnTo>
                  <a:pt x="253018" y="222250"/>
                </a:lnTo>
                <a:lnTo>
                  <a:pt x="273229" y="222250"/>
                </a:lnTo>
                <a:cubicBezTo>
                  <a:pt x="281910" y="222250"/>
                  <a:pt x="288925" y="215235"/>
                  <a:pt x="288925" y="206554"/>
                </a:cubicBezTo>
                <a:cubicBezTo>
                  <a:pt x="288925" y="202386"/>
                  <a:pt x="287258" y="198358"/>
                  <a:pt x="284341" y="195441"/>
                </a:cubicBezTo>
                <a:lnTo>
                  <a:pt x="260241" y="171341"/>
                </a:lnTo>
                <a:lnTo>
                  <a:pt x="393591" y="37991"/>
                </a:lnTo>
                <a:close/>
                <a:moveTo>
                  <a:pt x="236905" y="245447"/>
                </a:moveTo>
                <a:lnTo>
                  <a:pt x="154603" y="163145"/>
                </a:lnTo>
                <a:cubicBezTo>
                  <a:pt x="124946" y="160576"/>
                  <a:pt x="95429" y="171271"/>
                  <a:pt x="74176" y="192524"/>
                </a:cubicBezTo>
                <a:lnTo>
                  <a:pt x="68620" y="198080"/>
                </a:lnTo>
                <a:cubicBezTo>
                  <a:pt x="53132" y="213568"/>
                  <a:pt x="44450" y="234543"/>
                  <a:pt x="44450" y="256421"/>
                </a:cubicBezTo>
                <a:cubicBezTo>
                  <a:pt x="44450" y="261144"/>
                  <a:pt x="49381" y="264200"/>
                  <a:pt x="53618" y="262116"/>
                </a:cubicBezTo>
                <a:lnTo>
                  <a:pt x="89108" y="244406"/>
                </a:lnTo>
                <a:cubicBezTo>
                  <a:pt x="92581" y="242669"/>
                  <a:pt x="95706" y="247253"/>
                  <a:pt x="92859" y="249892"/>
                </a:cubicBezTo>
                <a:lnTo>
                  <a:pt x="5070" y="328791"/>
                </a:lnTo>
                <a:cubicBezTo>
                  <a:pt x="1875" y="331708"/>
                  <a:pt x="0" y="335875"/>
                  <a:pt x="0" y="340251"/>
                </a:cubicBezTo>
                <a:cubicBezTo>
                  <a:pt x="0" y="348724"/>
                  <a:pt x="6876" y="355600"/>
                  <a:pt x="15349" y="355600"/>
                </a:cubicBezTo>
                <a:lnTo>
                  <a:pt x="135711" y="355600"/>
                </a:lnTo>
                <a:cubicBezTo>
                  <a:pt x="162659" y="355600"/>
                  <a:pt x="188426" y="344904"/>
                  <a:pt x="207526" y="325874"/>
                </a:cubicBezTo>
                <a:cubicBezTo>
                  <a:pt x="228779" y="304621"/>
                  <a:pt x="239405" y="275104"/>
                  <a:pt x="236905" y="245447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4724400" y="1625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Clean &amp; Validate</a:t>
            </a:r>
            <a:endParaRPr b="0" i="0" sz="1600" u="none" cap="none" strike="noStrike"/>
          </a:p>
        </p:txBody>
      </p:sp>
      <p:sp>
        <p:nvSpPr>
          <p:cNvPr id="111" name="Google Shape;111;p7"/>
          <p:cNvSpPr/>
          <p:nvPr/>
        </p:nvSpPr>
        <p:spPr>
          <a:xfrm>
            <a:off x="4724400" y="19812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and validate financial data quality</a:t>
            </a:r>
            <a:endParaRPr b="0" i="0" sz="1600" u="none" cap="none" strike="noStrike"/>
          </a:p>
        </p:txBody>
      </p:sp>
      <p:sp>
        <p:nvSpPr>
          <p:cNvPr id="112" name="Google Shape;112;p7"/>
          <p:cNvSpPr/>
          <p:nvPr/>
        </p:nvSpPr>
        <p:spPr>
          <a:xfrm>
            <a:off x="8229600" y="965200"/>
            <a:ext cx="34544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8229600" y="965200"/>
            <a:ext cx="34544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8455025" y="1193800"/>
            <a:ext cx="311150" cy="355600"/>
          </a:xfrm>
          <a:custGeom>
            <a:rect b="b" l="l" r="r" t="t"/>
            <a:pathLst>
              <a:path extrusionOk="0" h="355600" w="31115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432800" y="1625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Store in SQLite</a:t>
            </a:r>
            <a:endParaRPr b="0" i="0" sz="1600" u="none" cap="none" strike="noStrike"/>
          </a:p>
        </p:txBody>
      </p:sp>
      <p:sp>
        <p:nvSpPr>
          <p:cNvPr id="116" name="Google Shape;116;p7"/>
          <p:cNvSpPr/>
          <p:nvPr/>
        </p:nvSpPr>
        <p:spPr>
          <a:xfrm>
            <a:off x="8432800" y="19812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Structured storage for efficient querying</a:t>
            </a:r>
            <a:endParaRPr b="0" i="0" sz="1600" u="none" cap="none" strike="noStrike"/>
          </a:p>
        </p:txBody>
      </p:sp>
      <p:sp>
        <p:nvSpPr>
          <p:cNvPr id="117" name="Google Shape;117;p7"/>
          <p:cNvSpPr/>
          <p:nvPr/>
        </p:nvSpPr>
        <p:spPr>
          <a:xfrm>
            <a:off x="11938000" y="965200"/>
            <a:ext cx="35052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1938000" y="965200"/>
            <a:ext cx="35052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2141200" y="1193800"/>
            <a:ext cx="355600" cy="355600"/>
          </a:xfrm>
          <a:custGeom>
            <a:rect b="b" l="l" r="r" t="t"/>
            <a:pathLst>
              <a:path extrusionOk="0" h="355600" w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2141200" y="1625600"/>
            <a:ext cx="309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Calculate Metrics</a:t>
            </a:r>
            <a:endParaRPr b="0" i="0" sz="1600" u="none" cap="none" strike="noStrike"/>
          </a:p>
        </p:txBody>
      </p:sp>
      <p:sp>
        <p:nvSpPr>
          <p:cNvPr id="121" name="Google Shape;121;p7"/>
          <p:cNvSpPr/>
          <p:nvPr/>
        </p:nvSpPr>
        <p:spPr>
          <a:xfrm>
            <a:off x="12141200" y="1981200"/>
            <a:ext cx="309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Compute CAGR, Sharpe, Sortino ratios</a:t>
            </a:r>
            <a:endParaRPr b="0" i="0" sz="1600" u="none" cap="none" strike="noStrike"/>
          </a:p>
        </p:txBody>
      </p:sp>
      <p:sp>
        <p:nvSpPr>
          <p:cNvPr id="122" name="Google Shape;122;p7"/>
          <p:cNvSpPr/>
          <p:nvPr/>
        </p:nvSpPr>
        <p:spPr>
          <a:xfrm>
            <a:off x="812800" y="2844800"/>
            <a:ext cx="34544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812800" y="2844800"/>
            <a:ext cx="3454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016000" y="30734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016000" y="3505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Analyze Risk</a:t>
            </a:r>
            <a:endParaRPr b="0" i="0" sz="1600" u="none" cap="none" strike="noStrike"/>
          </a:p>
        </p:txBody>
      </p:sp>
      <p:sp>
        <p:nvSpPr>
          <p:cNvPr id="126" name="Google Shape;126;p7"/>
          <p:cNvSpPr/>
          <p:nvPr/>
        </p:nvSpPr>
        <p:spPr>
          <a:xfrm>
            <a:off x="1016000" y="38608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Volatility, drawdown, and VaR analysis</a:t>
            </a:r>
            <a:endParaRPr b="0" i="0" sz="1600" u="none" cap="none" strike="noStrike"/>
          </a:p>
        </p:txBody>
      </p:sp>
      <p:sp>
        <p:nvSpPr>
          <p:cNvPr id="127" name="Google Shape;127;p7"/>
          <p:cNvSpPr/>
          <p:nvPr/>
        </p:nvSpPr>
        <p:spPr>
          <a:xfrm>
            <a:off x="4521200" y="2844800"/>
            <a:ext cx="34544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21200" y="2844800"/>
            <a:ext cx="3454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702175" y="3073400"/>
            <a:ext cx="400050" cy="355600"/>
          </a:xfrm>
          <a:custGeom>
            <a:rect b="b" l="l" r="r" t="t"/>
            <a:pathLst>
              <a:path extrusionOk="0" h="355600" w="40005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724400" y="3505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Generate Recommendations</a:t>
            </a:r>
            <a:endParaRPr b="0" i="0" sz="1600" u="none" cap="none" strike="noStrike"/>
          </a:p>
        </p:txBody>
      </p:sp>
      <p:sp>
        <p:nvSpPr>
          <p:cNvPr id="131" name="Google Shape;131;p7"/>
          <p:cNvSpPr/>
          <p:nvPr/>
        </p:nvSpPr>
        <p:spPr>
          <a:xfrm>
            <a:off x="4724400" y="38608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Profile-based fund suggestions</a:t>
            </a:r>
            <a:endParaRPr b="0" i="0" sz="1600" u="none" cap="none" strike="noStrike"/>
          </a:p>
        </p:txBody>
      </p:sp>
      <p:sp>
        <p:nvSpPr>
          <p:cNvPr id="132" name="Google Shape;132;p7"/>
          <p:cNvSpPr/>
          <p:nvPr/>
        </p:nvSpPr>
        <p:spPr>
          <a:xfrm>
            <a:off x="8229600" y="2844800"/>
            <a:ext cx="34544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8229600" y="2844800"/>
            <a:ext cx="3454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432800" y="3073400"/>
            <a:ext cx="355600" cy="355600"/>
          </a:xfrm>
          <a:custGeom>
            <a:rect b="b" l="l" r="r" t="t"/>
            <a:pathLst>
              <a:path extrusionOk="0" h="355600" w="355600">
                <a:moveTo>
                  <a:pt x="311150" y="66675"/>
                </a:moveTo>
                <a:lnTo>
                  <a:pt x="311150" y="244475"/>
                </a:lnTo>
                <a:lnTo>
                  <a:pt x="44450" y="244475"/>
                </a:lnTo>
                <a:lnTo>
                  <a:pt x="44450" y="66675"/>
                </a:lnTo>
                <a:lnTo>
                  <a:pt x="311150" y="66675"/>
                </a:lnTo>
                <a:close/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432800" y="3505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Build Dashboard</a:t>
            </a:r>
            <a:endParaRPr b="0" i="0" sz="1600" u="none" cap="none" strike="noStrike"/>
          </a:p>
        </p:txBody>
      </p:sp>
      <p:sp>
        <p:nvSpPr>
          <p:cNvPr id="136" name="Google Shape;136;p7"/>
          <p:cNvSpPr/>
          <p:nvPr/>
        </p:nvSpPr>
        <p:spPr>
          <a:xfrm>
            <a:off x="8432800" y="38608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Streamlit interface</a:t>
            </a:r>
            <a:endParaRPr b="0" i="0" sz="1600" u="none" cap="none" strike="noStrike"/>
          </a:p>
        </p:txBody>
      </p:sp>
      <p:sp>
        <p:nvSpPr>
          <p:cNvPr id="137" name="Google Shape;137;p7"/>
          <p:cNvSpPr/>
          <p:nvPr/>
        </p:nvSpPr>
        <p:spPr>
          <a:xfrm>
            <a:off x="11938000" y="2844800"/>
            <a:ext cx="35052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1938000" y="2844800"/>
            <a:ext cx="350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2118975" y="3073400"/>
            <a:ext cx="400050" cy="355600"/>
          </a:xfrm>
          <a:custGeom>
            <a:rect b="b" l="l" r="r" t="t"/>
            <a:pathLst>
              <a:path extrusionOk="0" h="355600" w="400050">
                <a:moveTo>
                  <a:pt x="100013" y="333375"/>
                </a:moveTo>
                <a:cubicBezTo>
                  <a:pt x="44797" y="333375"/>
                  <a:pt x="0" y="288578"/>
                  <a:pt x="0" y="233363"/>
                </a:cubicBezTo>
                <a:cubicBezTo>
                  <a:pt x="0" y="189329"/>
                  <a:pt x="28476" y="151963"/>
                  <a:pt x="67995" y="138559"/>
                </a:cubicBezTo>
                <a:cubicBezTo>
                  <a:pt x="67092" y="133211"/>
                  <a:pt x="66675" y="127794"/>
                  <a:pt x="66675" y="122238"/>
                </a:cubicBezTo>
                <a:cubicBezTo>
                  <a:pt x="66675" y="67022"/>
                  <a:pt x="111472" y="22225"/>
                  <a:pt x="166688" y="22225"/>
                </a:cubicBezTo>
                <a:cubicBezTo>
                  <a:pt x="205165" y="22225"/>
                  <a:pt x="238571" y="43964"/>
                  <a:pt x="255310" y="75773"/>
                </a:cubicBezTo>
                <a:cubicBezTo>
                  <a:pt x="265172" y="70009"/>
                  <a:pt x="276701" y="66675"/>
                  <a:pt x="288925" y="66675"/>
                </a:cubicBezTo>
                <a:cubicBezTo>
                  <a:pt x="325735" y="66675"/>
                  <a:pt x="355600" y="96540"/>
                  <a:pt x="355600" y="133350"/>
                </a:cubicBezTo>
                <a:cubicBezTo>
                  <a:pt x="355600" y="144254"/>
                  <a:pt x="352961" y="154603"/>
                  <a:pt x="348307" y="163701"/>
                </a:cubicBezTo>
                <a:cubicBezTo>
                  <a:pt x="378867" y="177800"/>
                  <a:pt x="400050" y="208637"/>
                  <a:pt x="400050" y="244475"/>
                </a:cubicBezTo>
                <a:cubicBezTo>
                  <a:pt x="400050" y="293578"/>
                  <a:pt x="360253" y="333375"/>
                  <a:pt x="311150" y="333375"/>
                </a:cubicBezTo>
                <a:lnTo>
                  <a:pt x="100013" y="333375"/>
                </a:lnTo>
                <a:close/>
                <a:moveTo>
                  <a:pt x="211832" y="132655"/>
                </a:moveTo>
                <a:cubicBezTo>
                  <a:pt x="205303" y="126127"/>
                  <a:pt x="194747" y="126127"/>
                  <a:pt x="188287" y="132655"/>
                </a:cubicBezTo>
                <a:lnTo>
                  <a:pt x="138281" y="182662"/>
                </a:lnTo>
                <a:cubicBezTo>
                  <a:pt x="131753" y="189190"/>
                  <a:pt x="131753" y="199747"/>
                  <a:pt x="138281" y="206206"/>
                </a:cubicBezTo>
                <a:cubicBezTo>
                  <a:pt x="144810" y="212665"/>
                  <a:pt x="155367" y="212735"/>
                  <a:pt x="161826" y="206206"/>
                </a:cubicBezTo>
                <a:lnTo>
                  <a:pt x="183356" y="184676"/>
                </a:lnTo>
                <a:lnTo>
                  <a:pt x="183356" y="255587"/>
                </a:lnTo>
                <a:cubicBezTo>
                  <a:pt x="183356" y="264825"/>
                  <a:pt x="190788" y="272256"/>
                  <a:pt x="200025" y="272256"/>
                </a:cubicBezTo>
                <a:cubicBezTo>
                  <a:pt x="209262" y="272256"/>
                  <a:pt x="216694" y="264825"/>
                  <a:pt x="216694" y="255587"/>
                </a:cubicBezTo>
                <a:lnTo>
                  <a:pt x="216694" y="184676"/>
                </a:lnTo>
                <a:lnTo>
                  <a:pt x="238224" y="206206"/>
                </a:lnTo>
                <a:cubicBezTo>
                  <a:pt x="244753" y="212735"/>
                  <a:pt x="255310" y="212735"/>
                  <a:pt x="261769" y="206206"/>
                </a:cubicBezTo>
                <a:cubicBezTo>
                  <a:pt x="268228" y="199678"/>
                  <a:pt x="268297" y="189121"/>
                  <a:pt x="261769" y="182662"/>
                </a:cubicBezTo>
                <a:lnTo>
                  <a:pt x="211763" y="132655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2141200" y="3505200"/>
            <a:ext cx="309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Deploy on Cloud</a:t>
            </a:r>
            <a:endParaRPr b="0" i="0" sz="1600" u="none" cap="none" strike="noStrike"/>
          </a:p>
        </p:txBody>
      </p:sp>
      <p:sp>
        <p:nvSpPr>
          <p:cNvPr id="141" name="Google Shape;141;p7"/>
          <p:cNvSpPr/>
          <p:nvPr/>
        </p:nvSpPr>
        <p:spPr>
          <a:xfrm>
            <a:off x="12141200" y="3860800"/>
            <a:ext cx="309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 Cloud deployment</a:t>
            </a:r>
            <a:endParaRPr b="0" i="0" sz="1600" u="none" cap="none" strike="noStrike"/>
          </a:p>
        </p:txBody>
      </p:sp>
      <p:sp>
        <p:nvSpPr>
          <p:cNvPr id="142" name="Google Shape;142;p7"/>
          <p:cNvSpPr/>
          <p:nvPr/>
        </p:nvSpPr>
        <p:spPr>
          <a:xfrm>
            <a:off x="812800" y="4826000"/>
            <a:ext cx="14630400" cy="1270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066800" y="49784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End-to-End Pipeline</a:t>
            </a:r>
            <a:endParaRPr b="0" i="0" sz="1600" u="none" cap="none" strike="noStrike"/>
          </a:p>
        </p:txBody>
      </p:sp>
      <p:sp>
        <p:nvSpPr>
          <p:cNvPr id="144" name="Google Shape;144;p7"/>
          <p:cNvSpPr/>
          <p:nvPr/>
        </p:nvSpPr>
        <p:spPr>
          <a:xfrm>
            <a:off x="1066800" y="53848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raw data collection to cloud deployment — a complete analytics workflow</a:t>
            </a:r>
            <a:endParaRPr b="0" i="0" sz="1600" u="none" cap="none" strike="noStrike"/>
          </a:p>
        </p:txBody>
      </p:sp>
      <p:sp>
        <p:nvSpPr>
          <p:cNvPr id="145" name="Google Shape;145;p7"/>
          <p:cNvSpPr/>
          <p:nvPr/>
        </p:nvSpPr>
        <p:spPr>
          <a:xfrm>
            <a:off x="11938000" y="5029200"/>
            <a:ext cx="330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8 Steps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Dataset Description</a:t>
            </a:r>
            <a:endParaRPr b="0" i="0" sz="1600" u="none" cap="none" strike="noStrike"/>
          </a:p>
        </p:txBody>
      </p:sp>
      <p:sp>
        <p:nvSpPr>
          <p:cNvPr id="153" name="Google Shape;153;p8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600" u="none" cap="none" strike="noStrike"/>
          </a:p>
        </p:txBody>
      </p:sp>
      <p:graphicFrame>
        <p:nvGraphicFramePr>
          <p:cNvPr id="154" name="Google Shape;154;p8"/>
          <p:cNvGraphicFramePr/>
          <p:nvPr/>
        </p:nvGraphicFramePr>
        <p:xfrm>
          <a:off x="812800" y="101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{2CAD9AEE-901A-43B7-B7BF-C3F24A0F04FD}</a:tableStyleId>
              </a:tblPr>
              <a:tblGrid>
                <a:gridCol w="444500"/>
                <a:gridCol w="3111500"/>
                <a:gridCol w="5334000"/>
              </a:tblGrid>
              <a:tr h="56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#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Dataset Name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Description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56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Fund Master Dataset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Core fund information and scheme details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NAV History Dataset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Historical Net Asset Value records over time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</a:tr>
              <a:tr h="56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AUM Dataset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Assets Under Management tracking data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Monthly SIP Inflows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Systematic Investment Plan contribution data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</a:tr>
              <a:tr h="56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 Inflows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Fund category-wise investment flow analysis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Investor Transactions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Individual investor transaction records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</a:tr>
              <a:tr h="56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Portfolio Holdings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Fund portfolio composition and holdings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Benchmark Indices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Market benchmark data for comparison</a:t>
                      </a:r>
                      <a:endParaRPr sz="14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8C8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DE8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8"/>
          <p:cNvSpPr/>
          <p:nvPr/>
        </p:nvSpPr>
        <p:spPr>
          <a:xfrm>
            <a:off x="10033000" y="1016000"/>
            <a:ext cx="5410200" cy="5080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10337800" y="1270000"/>
            <a:ext cx="4800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Data Processing Pipeline</a:t>
            </a:r>
            <a:endParaRPr b="0" i="0" sz="1600" u="none" cap="none" strike="noStrike"/>
          </a:p>
        </p:txBody>
      </p:sp>
      <p:cxnSp>
        <p:nvCxnSpPr>
          <p:cNvPr id="157" name="Google Shape;157;p8"/>
          <p:cNvCxnSpPr/>
          <p:nvPr/>
        </p:nvCxnSpPr>
        <p:spPr>
          <a:xfrm>
            <a:off x="10337800" y="1727200"/>
            <a:ext cx="101600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8"/>
          <p:cNvSpPr/>
          <p:nvPr/>
        </p:nvSpPr>
        <p:spPr>
          <a:xfrm>
            <a:off x="10337800" y="1981200"/>
            <a:ext cx="4800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Data Collection from Sources</a:t>
            </a:r>
            <a:endParaRPr b="0" i="0" sz="1600" u="none" cap="none" strike="noStrike"/>
          </a:p>
        </p:txBody>
      </p:sp>
      <p:sp>
        <p:nvSpPr>
          <p:cNvPr id="159" name="Google Shape;159;p8"/>
          <p:cNvSpPr/>
          <p:nvPr/>
        </p:nvSpPr>
        <p:spPr>
          <a:xfrm>
            <a:off x="10337800" y="26670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↓</a:t>
            </a:r>
            <a:endParaRPr b="0" i="0" sz="1600" u="none" cap="none" strike="noStrike"/>
          </a:p>
        </p:txBody>
      </p:sp>
      <p:sp>
        <p:nvSpPr>
          <p:cNvPr id="160" name="Google Shape;160;p8"/>
          <p:cNvSpPr/>
          <p:nvPr/>
        </p:nvSpPr>
        <p:spPr>
          <a:xfrm>
            <a:off x="10337800" y="2946400"/>
            <a:ext cx="4800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Data Cleaning &amp; Validation</a:t>
            </a:r>
            <a:endParaRPr b="0" i="0" sz="1600" u="none" cap="none" strike="noStrike"/>
          </a:p>
        </p:txBody>
      </p:sp>
      <p:sp>
        <p:nvSpPr>
          <p:cNvPr id="161" name="Google Shape;161;p8"/>
          <p:cNvSpPr/>
          <p:nvPr/>
        </p:nvSpPr>
        <p:spPr>
          <a:xfrm>
            <a:off x="10337800" y="36322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↓</a:t>
            </a:r>
            <a:endParaRPr b="0" i="0" sz="1600" u="none" cap="none" strike="noStrike"/>
          </a:p>
        </p:txBody>
      </p:sp>
      <p:sp>
        <p:nvSpPr>
          <p:cNvPr id="162" name="Google Shape;162;p8"/>
          <p:cNvSpPr/>
          <p:nvPr/>
        </p:nvSpPr>
        <p:spPr>
          <a:xfrm>
            <a:off x="10337800" y="3911600"/>
            <a:ext cx="4800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Data Transformation</a:t>
            </a:r>
            <a:endParaRPr b="0" i="0" sz="1600" u="none" cap="none" strike="noStrike"/>
          </a:p>
        </p:txBody>
      </p:sp>
      <p:sp>
        <p:nvSpPr>
          <p:cNvPr id="163" name="Google Shape;163;p8"/>
          <p:cNvSpPr/>
          <p:nvPr/>
        </p:nvSpPr>
        <p:spPr>
          <a:xfrm>
            <a:off x="10337800" y="45974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↓</a:t>
            </a:r>
            <a:endParaRPr b="0" i="0" sz="1600" u="none" cap="none" strike="noStrike"/>
          </a:p>
        </p:txBody>
      </p:sp>
      <p:sp>
        <p:nvSpPr>
          <p:cNvPr id="164" name="Google Shape;164;p8"/>
          <p:cNvSpPr/>
          <p:nvPr/>
        </p:nvSpPr>
        <p:spPr>
          <a:xfrm>
            <a:off x="10337800" y="4876800"/>
            <a:ext cx="4800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Integration into SQLite</a:t>
            </a:r>
            <a:endParaRPr b="0" i="0" sz="1600" u="none" cap="none" strike="noStrike"/>
          </a:p>
        </p:txBody>
      </p:sp>
      <p:sp>
        <p:nvSpPr>
          <p:cNvPr id="165" name="Google Shape;165;p8"/>
          <p:cNvSpPr/>
          <p:nvPr/>
        </p:nvSpPr>
        <p:spPr>
          <a:xfrm>
            <a:off x="812800" y="6400800"/>
            <a:ext cx="14630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datasets were cleaned, validated, transformed and integrated before analytics processing.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Project Architecture</a:t>
            </a:r>
            <a:endParaRPr b="0" i="0" sz="1600" u="none" cap="none" strike="noStrike"/>
          </a:p>
        </p:txBody>
      </p:sp>
      <p:sp>
        <p:nvSpPr>
          <p:cNvPr id="173" name="Google Shape;173;p9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600" u="none" cap="none" strike="noStrike"/>
          </a:p>
        </p:txBody>
      </p:sp>
      <p:sp>
        <p:nvSpPr>
          <p:cNvPr id="174" name="Google Shape;174;p9"/>
          <p:cNvSpPr/>
          <p:nvPr/>
        </p:nvSpPr>
        <p:spPr>
          <a:xfrm>
            <a:off x="812800" y="1016000"/>
            <a:ext cx="14630400" cy="6858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1270000" y="1397000"/>
            <a:ext cx="2794000" cy="762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270000" y="1397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Mutual Fund Data</a:t>
            </a:r>
            <a:endParaRPr b="0" i="0" sz="1600" u="none" cap="none" strike="noStrike"/>
          </a:p>
        </p:txBody>
      </p:sp>
      <p:cxnSp>
        <p:nvCxnSpPr>
          <p:cNvPr id="177" name="Google Shape;177;p9"/>
          <p:cNvCxnSpPr/>
          <p:nvPr/>
        </p:nvCxnSpPr>
        <p:spPr>
          <a:xfrm>
            <a:off x="4064000" y="17272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8" name="Google Shape;178;p9"/>
          <p:cNvSpPr/>
          <p:nvPr/>
        </p:nvSpPr>
        <p:spPr>
          <a:xfrm>
            <a:off x="4572000" y="1397000"/>
            <a:ext cx="2286000" cy="76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572000" y="139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Validation</a:t>
            </a:r>
            <a:endParaRPr b="0" i="0" sz="1600" u="none" cap="none" strike="noStrike"/>
          </a:p>
        </p:txBody>
      </p:sp>
      <p:cxnSp>
        <p:nvCxnSpPr>
          <p:cNvPr id="180" name="Google Shape;180;p9"/>
          <p:cNvCxnSpPr/>
          <p:nvPr/>
        </p:nvCxnSpPr>
        <p:spPr>
          <a:xfrm>
            <a:off x="6858000" y="17272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1" name="Google Shape;181;p9"/>
          <p:cNvSpPr/>
          <p:nvPr/>
        </p:nvSpPr>
        <p:spPr>
          <a:xfrm>
            <a:off x="7366000" y="1397000"/>
            <a:ext cx="2286000" cy="76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7366000" y="1397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Cleaning</a:t>
            </a:r>
            <a:endParaRPr b="0" i="0" sz="1600" u="none" cap="none" strike="noStrike"/>
          </a:p>
        </p:txBody>
      </p:sp>
      <p:cxnSp>
        <p:nvCxnSpPr>
          <p:cNvPr id="183" name="Google Shape;183;p9"/>
          <p:cNvCxnSpPr/>
          <p:nvPr/>
        </p:nvCxnSpPr>
        <p:spPr>
          <a:xfrm>
            <a:off x="9652000" y="17272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4" name="Google Shape;184;p9"/>
          <p:cNvSpPr/>
          <p:nvPr/>
        </p:nvSpPr>
        <p:spPr>
          <a:xfrm>
            <a:off x="10160000" y="1397000"/>
            <a:ext cx="2540000" cy="76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0160000" y="13970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Engineering</a:t>
            </a:r>
            <a:endParaRPr b="0" i="0" sz="1600" u="none" cap="none" strike="noStrike"/>
          </a:p>
        </p:txBody>
      </p:sp>
      <p:cxnSp>
        <p:nvCxnSpPr>
          <p:cNvPr id="186" name="Google Shape;186;p9"/>
          <p:cNvCxnSpPr/>
          <p:nvPr/>
        </p:nvCxnSpPr>
        <p:spPr>
          <a:xfrm>
            <a:off x="11430000" y="2159000"/>
            <a:ext cx="0" cy="63500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7" name="Google Shape;187;p9"/>
          <p:cNvSpPr/>
          <p:nvPr/>
        </p:nvSpPr>
        <p:spPr>
          <a:xfrm>
            <a:off x="10160000" y="2794000"/>
            <a:ext cx="2540000" cy="762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10160000" y="27940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 Database</a:t>
            </a:r>
            <a:endParaRPr b="0" i="0" sz="1600" u="none" cap="none" strike="noStrike"/>
          </a:p>
        </p:txBody>
      </p:sp>
      <p:cxnSp>
        <p:nvCxnSpPr>
          <p:cNvPr id="189" name="Google Shape;189;p9"/>
          <p:cNvCxnSpPr/>
          <p:nvPr/>
        </p:nvCxnSpPr>
        <p:spPr>
          <a:xfrm>
            <a:off x="8128000" y="3175000"/>
            <a:ext cx="20066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90" name="Google Shape;190;p9"/>
          <p:cNvCxnSpPr/>
          <p:nvPr/>
        </p:nvCxnSpPr>
        <p:spPr>
          <a:xfrm>
            <a:off x="11430000" y="3556000"/>
            <a:ext cx="0" cy="63500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1" name="Google Shape;191;p9"/>
          <p:cNvSpPr/>
          <p:nvPr/>
        </p:nvSpPr>
        <p:spPr>
          <a:xfrm>
            <a:off x="1270000" y="2921000"/>
            <a:ext cx="6731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Analytics Layer</a:t>
            </a:r>
            <a:endParaRPr b="0" i="0" sz="1600" u="none" cap="none" strike="noStrike"/>
          </a:p>
        </p:txBody>
      </p:sp>
      <p:sp>
        <p:nvSpPr>
          <p:cNvPr id="192" name="Google Shape;192;p9"/>
          <p:cNvSpPr/>
          <p:nvPr/>
        </p:nvSpPr>
        <p:spPr>
          <a:xfrm>
            <a:off x="1270000" y="3556000"/>
            <a:ext cx="3302000" cy="76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1270000" y="3556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Analytics</a:t>
            </a:r>
            <a:endParaRPr b="0" i="0" sz="1600" u="none" cap="none" strike="noStrike"/>
          </a:p>
        </p:txBody>
      </p:sp>
      <p:sp>
        <p:nvSpPr>
          <p:cNvPr id="194" name="Google Shape;194;p9"/>
          <p:cNvSpPr/>
          <p:nvPr/>
        </p:nvSpPr>
        <p:spPr>
          <a:xfrm>
            <a:off x="5334000" y="3556000"/>
            <a:ext cx="2794000" cy="76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5334000" y="3556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Analytics</a:t>
            </a:r>
            <a:endParaRPr b="0" i="0" sz="1600" u="none" cap="none" strike="noStrike"/>
          </a:p>
        </p:txBody>
      </p:sp>
      <p:sp>
        <p:nvSpPr>
          <p:cNvPr id="196" name="Google Shape;196;p9"/>
          <p:cNvSpPr/>
          <p:nvPr/>
        </p:nvSpPr>
        <p:spPr>
          <a:xfrm>
            <a:off x="10160000" y="4318000"/>
            <a:ext cx="2540000" cy="76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0160000" y="43180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Recommendation Engine</a:t>
            </a:r>
            <a:endParaRPr b="0" i="0" sz="1600" u="none" cap="none" strike="noStrike"/>
          </a:p>
        </p:txBody>
      </p:sp>
      <p:cxnSp>
        <p:nvCxnSpPr>
          <p:cNvPr id="198" name="Google Shape;198;p9"/>
          <p:cNvCxnSpPr/>
          <p:nvPr/>
        </p:nvCxnSpPr>
        <p:spPr>
          <a:xfrm>
            <a:off x="2540000" y="4318000"/>
            <a:ext cx="0" cy="63500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9" name="Google Shape;199;p9"/>
          <p:cNvCxnSpPr/>
          <p:nvPr/>
        </p:nvCxnSpPr>
        <p:spPr>
          <a:xfrm>
            <a:off x="6731000" y="4318000"/>
            <a:ext cx="0" cy="63500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0" name="Google Shape;200;p9"/>
          <p:cNvCxnSpPr/>
          <p:nvPr/>
        </p:nvCxnSpPr>
        <p:spPr>
          <a:xfrm>
            <a:off x="11430000" y="5080000"/>
            <a:ext cx="0" cy="63500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1" name="Google Shape;201;p9"/>
          <p:cNvCxnSpPr/>
          <p:nvPr/>
        </p:nvCxnSpPr>
        <p:spPr>
          <a:xfrm>
            <a:off x="2540000" y="4953000"/>
            <a:ext cx="44450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2" name="Google Shape;202;p9"/>
          <p:cNvCxnSpPr/>
          <p:nvPr/>
        </p:nvCxnSpPr>
        <p:spPr>
          <a:xfrm>
            <a:off x="6985000" y="4953000"/>
            <a:ext cx="31496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3" name="Google Shape;203;p9"/>
          <p:cNvCxnSpPr/>
          <p:nvPr/>
        </p:nvCxnSpPr>
        <p:spPr>
          <a:xfrm>
            <a:off x="11430000" y="5715000"/>
            <a:ext cx="0" cy="63500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4" name="Google Shape;204;p9"/>
          <p:cNvSpPr/>
          <p:nvPr/>
        </p:nvSpPr>
        <p:spPr>
          <a:xfrm>
            <a:off x="4318000" y="5588000"/>
            <a:ext cx="3302000" cy="76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318000" y="5588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C1B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 Dashboard</a:t>
            </a:r>
            <a:endParaRPr b="0" i="0" sz="160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7874000" y="574040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1270000" y="6731000"/>
            <a:ext cx="1270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architecture follows a modular pipeline design: Data Ingestion → Processing → Storage → Analytics → Visualization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Technology Stack</a:t>
            </a:r>
            <a:endParaRPr b="0" i="0" sz="1600" u="none" cap="none" strike="noStrike"/>
          </a:p>
        </p:txBody>
      </p:sp>
      <p:sp>
        <p:nvSpPr>
          <p:cNvPr id="215" name="Google Shape;215;p10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600" u="none" cap="none" strike="noStrike"/>
          </a:p>
        </p:txBody>
      </p:sp>
      <p:sp>
        <p:nvSpPr>
          <p:cNvPr id="216" name="Google Shape;216;p10"/>
          <p:cNvSpPr/>
          <p:nvPr/>
        </p:nvSpPr>
        <p:spPr>
          <a:xfrm>
            <a:off x="812800" y="965200"/>
            <a:ext cx="4699000" cy="3302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812800" y="965200"/>
            <a:ext cx="4699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1041400" y="1219200"/>
            <a:ext cx="355600" cy="406400"/>
          </a:xfrm>
          <a:custGeom>
            <a:rect b="b" l="l" r="r" t="t"/>
            <a:pathLst>
              <a:path extrusionOk="0" h="406400" w="355600">
                <a:moveTo>
                  <a:pt x="349091" y="159147"/>
                </a:moveTo>
                <a:cubicBezTo>
                  <a:pt x="342979" y="134620"/>
                  <a:pt x="331391" y="116126"/>
                  <a:pt x="306705" y="116126"/>
                </a:cubicBezTo>
                <a:lnTo>
                  <a:pt x="274876" y="116126"/>
                </a:lnTo>
                <a:lnTo>
                  <a:pt x="274876" y="153749"/>
                </a:lnTo>
                <a:cubicBezTo>
                  <a:pt x="274876" y="182959"/>
                  <a:pt x="250111" y="207566"/>
                  <a:pt x="221853" y="207566"/>
                </a:cubicBezTo>
                <a:lnTo>
                  <a:pt x="137081" y="207566"/>
                </a:lnTo>
                <a:cubicBezTo>
                  <a:pt x="113903" y="207566"/>
                  <a:pt x="94694" y="227409"/>
                  <a:pt x="94694" y="250666"/>
                </a:cubicBezTo>
                <a:lnTo>
                  <a:pt x="94694" y="331470"/>
                </a:lnTo>
                <a:cubicBezTo>
                  <a:pt x="94694" y="354489"/>
                  <a:pt x="114697" y="367983"/>
                  <a:pt x="137081" y="374571"/>
                </a:cubicBezTo>
                <a:cubicBezTo>
                  <a:pt x="163909" y="382429"/>
                  <a:pt x="189706" y="383858"/>
                  <a:pt x="221853" y="374571"/>
                </a:cubicBezTo>
                <a:cubicBezTo>
                  <a:pt x="243205" y="368379"/>
                  <a:pt x="264239" y="355918"/>
                  <a:pt x="264239" y="331470"/>
                </a:cubicBezTo>
                <a:lnTo>
                  <a:pt x="264239" y="299164"/>
                </a:lnTo>
                <a:lnTo>
                  <a:pt x="179546" y="299164"/>
                </a:lnTo>
                <a:lnTo>
                  <a:pt x="179546" y="288369"/>
                </a:lnTo>
                <a:lnTo>
                  <a:pt x="306705" y="288369"/>
                </a:lnTo>
                <a:cubicBezTo>
                  <a:pt x="331391" y="288369"/>
                  <a:pt x="340519" y="271145"/>
                  <a:pt x="349091" y="245348"/>
                </a:cubicBezTo>
                <a:cubicBezTo>
                  <a:pt x="357981" y="218758"/>
                  <a:pt x="357584" y="193199"/>
                  <a:pt x="349091" y="159147"/>
                </a:cubicBezTo>
                <a:close/>
                <a:moveTo>
                  <a:pt x="227171" y="352981"/>
                </a:moveTo>
                <a:cubicBezTo>
                  <a:pt x="221130" y="353404"/>
                  <a:pt x="215357" y="350422"/>
                  <a:pt x="212208" y="345249"/>
                </a:cubicBezTo>
                <a:cubicBezTo>
                  <a:pt x="209058" y="340077"/>
                  <a:pt x="209058" y="333579"/>
                  <a:pt x="212208" y="328406"/>
                </a:cubicBezTo>
                <a:cubicBezTo>
                  <a:pt x="215357" y="323234"/>
                  <a:pt x="221130" y="320251"/>
                  <a:pt x="227171" y="320675"/>
                </a:cubicBezTo>
                <a:cubicBezTo>
                  <a:pt x="233212" y="320251"/>
                  <a:pt x="238985" y="323234"/>
                  <a:pt x="242135" y="328406"/>
                </a:cubicBezTo>
                <a:cubicBezTo>
                  <a:pt x="245284" y="333579"/>
                  <a:pt x="245284" y="340077"/>
                  <a:pt x="242135" y="345249"/>
                </a:cubicBezTo>
                <a:cubicBezTo>
                  <a:pt x="238985" y="350422"/>
                  <a:pt x="233212" y="353404"/>
                  <a:pt x="227171" y="352981"/>
                </a:cubicBezTo>
                <a:close/>
                <a:moveTo>
                  <a:pt x="133191" y="196929"/>
                </a:moveTo>
                <a:lnTo>
                  <a:pt x="217964" y="196929"/>
                </a:lnTo>
                <a:cubicBezTo>
                  <a:pt x="241538" y="196929"/>
                  <a:pt x="260350" y="177483"/>
                  <a:pt x="260350" y="153829"/>
                </a:cubicBezTo>
                <a:lnTo>
                  <a:pt x="260350" y="72946"/>
                </a:lnTo>
                <a:cubicBezTo>
                  <a:pt x="260350" y="49927"/>
                  <a:pt x="240983" y="32703"/>
                  <a:pt x="217964" y="28813"/>
                </a:cubicBezTo>
                <a:cubicBezTo>
                  <a:pt x="189548" y="24130"/>
                  <a:pt x="158671" y="24368"/>
                  <a:pt x="133191" y="28893"/>
                </a:cubicBezTo>
                <a:cubicBezTo>
                  <a:pt x="97314" y="35243"/>
                  <a:pt x="90805" y="48498"/>
                  <a:pt x="90805" y="73025"/>
                </a:cubicBezTo>
                <a:lnTo>
                  <a:pt x="90805" y="105331"/>
                </a:lnTo>
                <a:lnTo>
                  <a:pt x="175657" y="105331"/>
                </a:lnTo>
                <a:lnTo>
                  <a:pt x="175657" y="116126"/>
                </a:lnTo>
                <a:lnTo>
                  <a:pt x="58976" y="116126"/>
                </a:lnTo>
                <a:cubicBezTo>
                  <a:pt x="34290" y="116126"/>
                  <a:pt x="12700" y="130969"/>
                  <a:pt x="5953" y="159147"/>
                </a:cubicBezTo>
                <a:cubicBezTo>
                  <a:pt x="-1826" y="191452"/>
                  <a:pt x="-2143" y="211614"/>
                  <a:pt x="5953" y="245348"/>
                </a:cubicBezTo>
                <a:cubicBezTo>
                  <a:pt x="11986" y="270431"/>
                  <a:pt x="26353" y="288369"/>
                  <a:pt x="51038" y="288369"/>
                </a:cubicBezTo>
                <a:lnTo>
                  <a:pt x="80169" y="288369"/>
                </a:lnTo>
                <a:lnTo>
                  <a:pt x="80169" y="249634"/>
                </a:lnTo>
                <a:cubicBezTo>
                  <a:pt x="80169" y="221615"/>
                  <a:pt x="104378" y="196929"/>
                  <a:pt x="133191" y="196929"/>
                </a:cubicBezTo>
                <a:close/>
                <a:moveTo>
                  <a:pt x="127953" y="51356"/>
                </a:moveTo>
                <a:cubicBezTo>
                  <a:pt x="136889" y="51356"/>
                  <a:pt x="144145" y="58611"/>
                  <a:pt x="144145" y="67548"/>
                </a:cubicBezTo>
                <a:cubicBezTo>
                  <a:pt x="144145" y="76485"/>
                  <a:pt x="136889" y="83741"/>
                  <a:pt x="127953" y="83741"/>
                </a:cubicBezTo>
                <a:cubicBezTo>
                  <a:pt x="119016" y="83741"/>
                  <a:pt x="111760" y="76485"/>
                  <a:pt x="111760" y="67548"/>
                </a:cubicBezTo>
                <a:cubicBezTo>
                  <a:pt x="111760" y="58611"/>
                  <a:pt x="119016" y="51356"/>
                  <a:pt x="127953" y="51356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1549400" y="12192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Programming</a:t>
            </a:r>
            <a:endParaRPr b="0" i="0" sz="160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1016000" y="17780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Python</a:t>
            </a:r>
            <a:endParaRPr b="0" i="0" sz="1600" u="none" cap="none" strike="noStrike"/>
          </a:p>
        </p:txBody>
      </p:sp>
      <p:sp>
        <p:nvSpPr>
          <p:cNvPr id="221" name="Google Shape;221;p10"/>
          <p:cNvSpPr/>
          <p:nvPr/>
        </p:nvSpPr>
        <p:spPr>
          <a:xfrm>
            <a:off x="5765800" y="965200"/>
            <a:ext cx="4699000" cy="3302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765800" y="965200"/>
            <a:ext cx="4699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5994400" y="1219200"/>
            <a:ext cx="355600" cy="406400"/>
          </a:xfrm>
          <a:custGeom>
            <a:rect b="b" l="l" r="r" t="t"/>
            <a:pathLst>
              <a:path extrusionOk="0" h="406400" w="355600">
                <a:moveTo>
                  <a:pt x="203200" y="127000"/>
                </a:moveTo>
                <a:lnTo>
                  <a:pt x="203200" y="203200"/>
                </a:lnTo>
                <a:lnTo>
                  <a:pt x="304800" y="203200"/>
                </a:lnTo>
                <a:lnTo>
                  <a:pt x="304800" y="127000"/>
                </a:lnTo>
                <a:lnTo>
                  <a:pt x="203200" y="127000"/>
                </a:lnTo>
                <a:close/>
                <a:moveTo>
                  <a:pt x="152400" y="127000"/>
                </a:moveTo>
                <a:lnTo>
                  <a:pt x="50800" y="127000"/>
                </a:lnTo>
                <a:lnTo>
                  <a:pt x="50800" y="203200"/>
                </a:lnTo>
                <a:lnTo>
                  <a:pt x="152400" y="203200"/>
                </a:lnTo>
                <a:lnTo>
                  <a:pt x="152400" y="127000"/>
                </a:lnTo>
                <a:close/>
                <a:moveTo>
                  <a:pt x="0" y="254000"/>
                </a:move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304800" y="25400"/>
                </a:lnTo>
                <a:cubicBezTo>
                  <a:pt x="332819" y="25400"/>
                  <a:pt x="355600" y="48181"/>
                  <a:pt x="355600" y="762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254000"/>
                </a:lnTo>
                <a:close/>
                <a:moveTo>
                  <a:pt x="304800" y="254000"/>
                </a:moveTo>
                <a:lnTo>
                  <a:pt x="203200" y="254000"/>
                </a:lnTo>
                <a:lnTo>
                  <a:pt x="203200" y="330200"/>
                </a:lnTo>
                <a:lnTo>
                  <a:pt x="304800" y="330200"/>
                </a:lnTo>
                <a:lnTo>
                  <a:pt x="304800" y="254000"/>
                </a:lnTo>
                <a:close/>
                <a:moveTo>
                  <a:pt x="152400" y="330200"/>
                </a:moveTo>
                <a:lnTo>
                  <a:pt x="152400" y="254000"/>
                </a:lnTo>
                <a:lnTo>
                  <a:pt x="50800" y="254000"/>
                </a:lnTo>
                <a:lnTo>
                  <a:pt x="50800" y="330200"/>
                </a:lnTo>
                <a:lnTo>
                  <a:pt x="152400" y="330200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502400" y="12192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Data Processing</a:t>
            </a:r>
            <a:endParaRPr b="0" i="0" sz="160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5969000" y="1778000"/>
            <a:ext cx="4292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Pandas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NumPy</a:t>
            </a:r>
            <a:endParaRPr b="0" i="0" sz="160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10718800" y="965200"/>
            <a:ext cx="4724400" cy="3302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0718800" y="965200"/>
            <a:ext cx="4724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10947400" y="1219200"/>
            <a:ext cx="355600" cy="406400"/>
          </a:xfrm>
          <a:custGeom>
            <a:rect b="b" l="l" r="r" t="t"/>
            <a:pathLst>
              <a:path extrusionOk="0" h="406400" w="3556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11455400" y="12192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Database</a:t>
            </a:r>
            <a:endParaRPr b="0" i="0" sz="160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10922000" y="17780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SQLite</a:t>
            </a:r>
            <a:endParaRPr b="0" i="0" sz="160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812800" y="4521200"/>
            <a:ext cx="4699000" cy="3302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812800" y="4521200"/>
            <a:ext cx="4699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016000" y="4775200"/>
            <a:ext cx="406400" cy="406400"/>
          </a:xfrm>
          <a:custGeom>
            <a:rect b="b" l="l" r="r" t="t"/>
            <a:pathLst>
              <a:path extrusionOk="0" h="406400" w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549400" y="47752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Machine Learning</a:t>
            </a:r>
            <a:endParaRPr b="0" i="0" sz="160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1016000" y="53340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Scikit-Learn</a:t>
            </a:r>
            <a:endParaRPr b="0" i="0" sz="160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5765800" y="4521200"/>
            <a:ext cx="4699000" cy="3302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765800" y="4521200"/>
            <a:ext cx="4699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5943600" y="4775200"/>
            <a:ext cx="457200" cy="406400"/>
          </a:xfrm>
          <a:custGeom>
            <a:rect b="b" l="l" r="r" t="t"/>
            <a:pathLst>
              <a:path extrusionOk="0" h="406400" w="457200">
                <a:moveTo>
                  <a:pt x="406718" y="190500"/>
                </a:moveTo>
                <a:lnTo>
                  <a:pt x="267017" y="190500"/>
                </a:lnTo>
                <a:cubicBezTo>
                  <a:pt x="252968" y="190500"/>
                  <a:pt x="241618" y="179149"/>
                  <a:pt x="241618" y="165100"/>
                </a:cubicBezTo>
                <a:lnTo>
                  <a:pt x="241618" y="25400"/>
                </a:lnTo>
                <a:cubicBezTo>
                  <a:pt x="241618" y="11351"/>
                  <a:pt x="253047" y="-159"/>
                  <a:pt x="266938" y="1667"/>
                </a:cubicBezTo>
                <a:cubicBezTo>
                  <a:pt x="351869" y="12938"/>
                  <a:pt x="419179" y="80248"/>
                  <a:pt x="430451" y="165179"/>
                </a:cubicBezTo>
                <a:cubicBezTo>
                  <a:pt x="432276" y="179070"/>
                  <a:pt x="420767" y="190500"/>
                  <a:pt x="406718" y="190500"/>
                </a:cubicBezTo>
                <a:close/>
                <a:moveTo>
                  <a:pt x="176689" y="29528"/>
                </a:moveTo>
                <a:cubicBezTo>
                  <a:pt x="191056" y="26511"/>
                  <a:pt x="203518" y="38259"/>
                  <a:pt x="203518" y="52943"/>
                </a:cubicBezTo>
                <a:lnTo>
                  <a:pt x="203518" y="209550"/>
                </a:lnTo>
                <a:cubicBezTo>
                  <a:pt x="203518" y="213995"/>
                  <a:pt x="205105" y="218281"/>
                  <a:pt x="207883" y="221694"/>
                </a:cubicBezTo>
                <a:lnTo>
                  <a:pt x="312738" y="348218"/>
                </a:lnTo>
                <a:cubicBezTo>
                  <a:pt x="322024" y="359410"/>
                  <a:pt x="320040" y="376317"/>
                  <a:pt x="307261" y="383223"/>
                </a:cubicBezTo>
                <a:cubicBezTo>
                  <a:pt x="280194" y="397986"/>
                  <a:pt x="249158" y="406400"/>
                  <a:pt x="216218" y="406400"/>
                </a:cubicBezTo>
                <a:cubicBezTo>
                  <a:pt x="111046" y="406400"/>
                  <a:pt x="25718" y="321072"/>
                  <a:pt x="25718" y="215900"/>
                </a:cubicBezTo>
                <a:cubicBezTo>
                  <a:pt x="25718" y="124222"/>
                  <a:pt x="90408" y="47704"/>
                  <a:pt x="176689" y="29527"/>
                </a:cubicBezTo>
                <a:close/>
                <a:moveTo>
                  <a:pt x="379254" y="228600"/>
                </a:moveTo>
                <a:lnTo>
                  <a:pt x="430054" y="228600"/>
                </a:lnTo>
                <a:cubicBezTo>
                  <a:pt x="444738" y="228600"/>
                  <a:pt x="456486" y="241062"/>
                  <a:pt x="453469" y="255429"/>
                </a:cubicBezTo>
                <a:cubicBezTo>
                  <a:pt x="445373" y="293846"/>
                  <a:pt x="425688" y="327978"/>
                  <a:pt x="398224" y="354013"/>
                </a:cubicBezTo>
                <a:cubicBezTo>
                  <a:pt x="388461" y="363299"/>
                  <a:pt x="373142" y="361315"/>
                  <a:pt x="364569" y="350917"/>
                </a:cubicBezTo>
                <a:lnTo>
                  <a:pt x="297577" y="270193"/>
                </a:lnTo>
                <a:cubicBezTo>
                  <a:pt x="283845" y="253603"/>
                  <a:pt x="295672" y="228600"/>
                  <a:pt x="317103" y="228600"/>
                </a:cubicBezTo>
                <a:lnTo>
                  <a:pt x="379174" y="228600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502400" y="47752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Visualization</a:t>
            </a:r>
            <a:endParaRPr b="0" i="0" sz="1600" u="none" cap="none" strike="noStrike"/>
          </a:p>
        </p:txBody>
      </p:sp>
      <p:sp>
        <p:nvSpPr>
          <p:cNvPr id="240" name="Google Shape;240;p10"/>
          <p:cNvSpPr/>
          <p:nvPr/>
        </p:nvSpPr>
        <p:spPr>
          <a:xfrm>
            <a:off x="5969000" y="5334000"/>
            <a:ext cx="4292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Plotly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Matplotlib</a:t>
            </a:r>
            <a:endParaRPr b="0" i="0" sz="1600" u="none" cap="none" strike="noStrike"/>
          </a:p>
        </p:txBody>
      </p:sp>
      <p:sp>
        <p:nvSpPr>
          <p:cNvPr id="241" name="Google Shape;241;p10"/>
          <p:cNvSpPr/>
          <p:nvPr/>
        </p:nvSpPr>
        <p:spPr>
          <a:xfrm>
            <a:off x="10718800" y="4521200"/>
            <a:ext cx="4724400" cy="3302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10718800" y="4521200"/>
            <a:ext cx="47244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10922000" y="4775200"/>
            <a:ext cx="406400" cy="406400"/>
          </a:xfrm>
          <a:custGeom>
            <a:rect b="b" l="l" r="r" t="t"/>
            <a:pathLst>
              <a:path extrusionOk="0" h="406400" w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69850" y="101600"/>
                </a:moveTo>
                <a:lnTo>
                  <a:pt x="336550" y="101600"/>
                </a:lnTo>
                <a:cubicBezTo>
                  <a:pt x="347107" y="101600"/>
                  <a:pt x="355600" y="110093"/>
                  <a:pt x="355600" y="120650"/>
                </a:cubicBezTo>
                <a:cubicBezTo>
                  <a:pt x="355600" y="131207"/>
                  <a:pt x="347107" y="139700"/>
                  <a:pt x="336550" y="139700"/>
                </a:cubicBezTo>
                <a:lnTo>
                  <a:pt x="69850" y="139700"/>
                </a:lnTo>
                <a:cubicBezTo>
                  <a:pt x="59293" y="139700"/>
                  <a:pt x="50800" y="131207"/>
                  <a:pt x="50800" y="120650"/>
                </a:cubicBezTo>
                <a:cubicBezTo>
                  <a:pt x="50800" y="110093"/>
                  <a:pt x="59293" y="101600"/>
                  <a:pt x="69850" y="1016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11455400" y="4775200"/>
            <a:ext cx="3759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Dashboard &amp; Deployment</a:t>
            </a:r>
            <a:endParaRPr b="0" i="0" sz="1600" u="none" cap="none" strike="noStrike"/>
          </a:p>
        </p:txBody>
      </p:sp>
      <p:sp>
        <p:nvSpPr>
          <p:cNvPr id="245" name="Google Shape;245;p10"/>
          <p:cNvSpPr/>
          <p:nvPr/>
        </p:nvSpPr>
        <p:spPr>
          <a:xfrm>
            <a:off x="10922000" y="5334000"/>
            <a:ext cx="4318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Streamlit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Git &amp; GitHub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Streamlit Cloud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Performance Analytics Module</a:t>
            </a:r>
            <a:endParaRPr b="0" i="0" sz="1600" u="none" cap="none" strike="noStrike"/>
          </a:p>
        </p:txBody>
      </p:sp>
      <p:sp>
        <p:nvSpPr>
          <p:cNvPr id="253" name="Google Shape;253;p11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600" u="none" cap="none" strike="noStrike"/>
          </a:p>
        </p:txBody>
      </p:sp>
      <p:sp>
        <p:nvSpPr>
          <p:cNvPr id="254" name="Google Shape;254;p11"/>
          <p:cNvSpPr/>
          <p:nvPr/>
        </p:nvSpPr>
        <p:spPr>
          <a:xfrm>
            <a:off x="812800" y="10160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Key Performance Metrics</a:t>
            </a:r>
            <a:endParaRPr b="0" i="0" sz="1600" u="none" cap="none" strike="noStrike"/>
          </a:p>
        </p:txBody>
      </p:sp>
      <p:sp>
        <p:nvSpPr>
          <p:cNvPr id="255" name="Google Shape;255;p11"/>
          <p:cNvSpPr/>
          <p:nvPr/>
        </p:nvSpPr>
        <p:spPr>
          <a:xfrm>
            <a:off x="812800" y="1574800"/>
            <a:ext cx="7112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812800" y="1574800"/>
            <a:ext cx="50800" cy="127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1041400" y="1879600"/>
            <a:ext cx="457200" cy="406400"/>
          </a:xfrm>
          <a:custGeom>
            <a:rect b="b" l="l" r="r" t="t"/>
            <a:pathLst>
              <a:path extrusionOk="0" h="406400" w="457200">
                <a:moveTo>
                  <a:pt x="304800" y="127000"/>
                </a:moveTo>
                <a:cubicBezTo>
                  <a:pt x="290751" y="127000"/>
                  <a:pt x="279400" y="115649"/>
                  <a:pt x="279400" y="101600"/>
                </a:cubicBezTo>
                <a:cubicBezTo>
                  <a:pt x="279400" y="87551"/>
                  <a:pt x="290751" y="76200"/>
                  <a:pt x="304800" y="76200"/>
                </a:cubicBezTo>
                <a:lnTo>
                  <a:pt x="431800" y="76200"/>
                </a:lnTo>
                <a:cubicBezTo>
                  <a:pt x="445849" y="76200"/>
                  <a:pt x="457200" y="87551"/>
                  <a:pt x="457200" y="101600"/>
                </a:cubicBezTo>
                <a:lnTo>
                  <a:pt x="457200" y="228600"/>
                </a:lnTo>
                <a:cubicBezTo>
                  <a:pt x="457200" y="242649"/>
                  <a:pt x="445849" y="254000"/>
                  <a:pt x="431800" y="254000"/>
                </a:cubicBezTo>
                <a:cubicBezTo>
                  <a:pt x="417751" y="254000"/>
                  <a:pt x="406400" y="242649"/>
                  <a:pt x="406400" y="228600"/>
                </a:cubicBezTo>
                <a:lnTo>
                  <a:pt x="406400" y="162957"/>
                </a:lnTo>
                <a:lnTo>
                  <a:pt x="271939" y="297418"/>
                </a:lnTo>
                <a:cubicBezTo>
                  <a:pt x="262017" y="307340"/>
                  <a:pt x="245904" y="307340"/>
                  <a:pt x="235982" y="297418"/>
                </a:cubicBezTo>
                <a:lnTo>
                  <a:pt x="152400" y="213757"/>
                </a:lnTo>
                <a:lnTo>
                  <a:pt x="43339" y="322739"/>
                </a:lnTo>
                <a:cubicBezTo>
                  <a:pt x="33417" y="332661"/>
                  <a:pt x="17304" y="332661"/>
                  <a:pt x="7382" y="322739"/>
                </a:cubicBezTo>
                <a:cubicBezTo>
                  <a:pt x="-2540" y="312817"/>
                  <a:pt x="-2540" y="296704"/>
                  <a:pt x="7382" y="286782"/>
                </a:cubicBezTo>
                <a:lnTo>
                  <a:pt x="134382" y="159782"/>
                </a:lnTo>
                <a:cubicBezTo>
                  <a:pt x="144304" y="149860"/>
                  <a:pt x="160417" y="149860"/>
                  <a:pt x="170339" y="159782"/>
                </a:cubicBezTo>
                <a:lnTo>
                  <a:pt x="254000" y="243443"/>
                </a:lnTo>
                <a:lnTo>
                  <a:pt x="370443" y="127000"/>
                </a:lnTo>
                <a:lnTo>
                  <a:pt x="304800" y="127000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651000" y="1727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CAGR</a:t>
            </a:r>
            <a:endParaRPr b="0" i="0" sz="1600" u="none" cap="none" strike="noStrike"/>
          </a:p>
        </p:txBody>
      </p:sp>
      <p:sp>
        <p:nvSpPr>
          <p:cNvPr id="259" name="Google Shape;259;p11"/>
          <p:cNvSpPr/>
          <p:nvPr/>
        </p:nvSpPr>
        <p:spPr>
          <a:xfrm>
            <a:off x="1651000" y="2082800"/>
            <a:ext cx="6070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Compound Annual Growth Rate — measures annualized return over a multi-year period</a:t>
            </a:r>
            <a:endParaRPr b="0" i="0" sz="1600" u="none" cap="none" strike="noStrike"/>
          </a:p>
        </p:txBody>
      </p:sp>
      <p:sp>
        <p:nvSpPr>
          <p:cNvPr id="260" name="Google Shape;260;p11"/>
          <p:cNvSpPr/>
          <p:nvPr/>
        </p:nvSpPr>
        <p:spPr>
          <a:xfrm>
            <a:off x="812800" y="3048000"/>
            <a:ext cx="7112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812800" y="3048000"/>
            <a:ext cx="50800" cy="127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1016000" y="3352800"/>
            <a:ext cx="508000" cy="406400"/>
          </a:xfrm>
          <a:custGeom>
            <a:rect b="b" l="l" r="r" t="t"/>
            <a:pathLst>
              <a:path extrusionOk="0" h="406400" w="5080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1651000" y="3200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Sharpe Ratio</a:t>
            </a:r>
            <a:endParaRPr b="0" i="0" sz="1600" u="none" cap="none" strike="noStrike"/>
          </a:p>
        </p:txBody>
      </p:sp>
      <p:sp>
        <p:nvSpPr>
          <p:cNvPr id="264" name="Google Shape;264;p11"/>
          <p:cNvSpPr/>
          <p:nvPr/>
        </p:nvSpPr>
        <p:spPr>
          <a:xfrm>
            <a:off x="1651000" y="3556000"/>
            <a:ext cx="6070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Risk-adjusted return metric comparing return to volatility — higher is better</a:t>
            </a:r>
            <a:endParaRPr b="0" i="0" sz="1600" u="none" cap="none" strike="noStrike"/>
          </a:p>
        </p:txBody>
      </p:sp>
      <p:sp>
        <p:nvSpPr>
          <p:cNvPr id="265" name="Google Shape;265;p11"/>
          <p:cNvSpPr/>
          <p:nvPr/>
        </p:nvSpPr>
        <p:spPr>
          <a:xfrm>
            <a:off x="812800" y="4521200"/>
            <a:ext cx="7112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812800" y="4521200"/>
            <a:ext cx="50800" cy="127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1066800" y="4826000"/>
            <a:ext cx="406400" cy="406400"/>
          </a:xfrm>
          <a:custGeom>
            <a:rect b="b" l="l" r="r" t="t"/>
            <a:pathLst>
              <a:path extrusionOk="0" h="406400" w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1651000" y="46736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Sortino Ratio</a:t>
            </a:r>
            <a:endParaRPr b="0" i="0" sz="1600" u="none" cap="none" strike="noStrike"/>
          </a:p>
        </p:txBody>
      </p:sp>
      <p:sp>
        <p:nvSpPr>
          <p:cNvPr id="269" name="Google Shape;269;p11"/>
          <p:cNvSpPr/>
          <p:nvPr/>
        </p:nvSpPr>
        <p:spPr>
          <a:xfrm>
            <a:off x="1651000" y="5029200"/>
            <a:ext cx="6070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Downside risk-adjusted return — focuses only on harmful volatility</a:t>
            </a:r>
            <a:endParaRPr b="0" i="0" sz="1600" u="none" cap="none" strike="noStrike"/>
          </a:p>
        </p:txBody>
      </p:sp>
      <p:sp>
        <p:nvSpPr>
          <p:cNvPr id="270" name="Google Shape;270;p11"/>
          <p:cNvSpPr/>
          <p:nvPr/>
        </p:nvSpPr>
        <p:spPr>
          <a:xfrm>
            <a:off x="8382000" y="1016000"/>
            <a:ext cx="7061200" cy="47752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8686800" y="1270000"/>
            <a:ext cx="6451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Performance Analytics Dashboard</a:t>
            </a:r>
            <a:endParaRPr b="0" i="0" sz="1600" u="none" cap="none" strike="noStrike"/>
          </a:p>
        </p:txBody>
      </p:sp>
      <p:cxnSp>
        <p:nvCxnSpPr>
          <p:cNvPr id="272" name="Google Shape;272;p11"/>
          <p:cNvCxnSpPr/>
          <p:nvPr/>
        </p:nvCxnSpPr>
        <p:spPr>
          <a:xfrm>
            <a:off x="8686800" y="1701800"/>
            <a:ext cx="127000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1"/>
          <p:cNvSpPr/>
          <p:nvPr/>
        </p:nvSpPr>
        <p:spPr>
          <a:xfrm>
            <a:off x="11176000" y="2794000"/>
            <a:ext cx="812800" cy="812800"/>
          </a:xfrm>
          <a:custGeom>
            <a:rect b="b" l="l" r="r" t="t"/>
            <a:pathLst>
              <a:path extrusionOk="0" h="812800" w="812800">
                <a:moveTo>
                  <a:pt x="101600" y="101600"/>
                </a:moveTo>
                <a:cubicBezTo>
                  <a:pt x="101600" y="73501"/>
                  <a:pt x="78899" y="50800"/>
                  <a:pt x="50800" y="50800"/>
                </a:cubicBezTo>
                <a:cubicBezTo>
                  <a:pt x="22701" y="50800"/>
                  <a:pt x="0" y="73501"/>
                  <a:pt x="0" y="101600"/>
                </a:cubicBezTo>
                <a:lnTo>
                  <a:pt x="0" y="635000"/>
                </a:lnTo>
                <a:cubicBezTo>
                  <a:pt x="0" y="705168"/>
                  <a:pt x="56832" y="762000"/>
                  <a:pt x="127000" y="762000"/>
                </a:cubicBezTo>
                <a:lnTo>
                  <a:pt x="762000" y="762000"/>
                </a:lnTo>
                <a:cubicBezTo>
                  <a:pt x="790099" y="762000"/>
                  <a:pt x="812800" y="739299"/>
                  <a:pt x="812800" y="711200"/>
                </a:cubicBezTo>
                <a:cubicBezTo>
                  <a:pt x="812800" y="683101"/>
                  <a:pt x="790099" y="660400"/>
                  <a:pt x="762000" y="660400"/>
                </a:cubicBezTo>
                <a:lnTo>
                  <a:pt x="127000" y="660400"/>
                </a:lnTo>
                <a:cubicBezTo>
                  <a:pt x="113030" y="660400"/>
                  <a:pt x="101600" y="648970"/>
                  <a:pt x="101600" y="635000"/>
                </a:cubicBezTo>
                <a:lnTo>
                  <a:pt x="101600" y="101600"/>
                </a:lnTo>
                <a:close/>
                <a:moveTo>
                  <a:pt x="747078" y="239078"/>
                </a:moveTo>
                <a:cubicBezTo>
                  <a:pt x="766921" y="219234"/>
                  <a:pt x="766921" y="187008"/>
                  <a:pt x="747078" y="167164"/>
                </a:cubicBezTo>
                <a:cubicBezTo>
                  <a:pt x="727234" y="147320"/>
                  <a:pt x="695008" y="147320"/>
                  <a:pt x="675164" y="167164"/>
                </a:cubicBezTo>
                <a:lnTo>
                  <a:pt x="508000" y="334486"/>
                </a:lnTo>
                <a:lnTo>
                  <a:pt x="416878" y="243523"/>
                </a:lnTo>
                <a:cubicBezTo>
                  <a:pt x="397034" y="223679"/>
                  <a:pt x="364808" y="223679"/>
                  <a:pt x="344964" y="243523"/>
                </a:cubicBezTo>
                <a:lnTo>
                  <a:pt x="192564" y="395923"/>
                </a:lnTo>
                <a:cubicBezTo>
                  <a:pt x="172720" y="415766"/>
                  <a:pt x="172720" y="447993"/>
                  <a:pt x="192564" y="467836"/>
                </a:cubicBezTo>
                <a:cubicBezTo>
                  <a:pt x="212408" y="487680"/>
                  <a:pt x="244634" y="487680"/>
                  <a:pt x="264478" y="467836"/>
                </a:cubicBezTo>
                <a:lnTo>
                  <a:pt x="381000" y="351314"/>
                </a:lnTo>
                <a:lnTo>
                  <a:pt x="472123" y="442436"/>
                </a:lnTo>
                <a:cubicBezTo>
                  <a:pt x="491966" y="462280"/>
                  <a:pt x="524193" y="462280"/>
                  <a:pt x="544036" y="442436"/>
                </a:cubicBezTo>
                <a:lnTo>
                  <a:pt x="747236" y="239236"/>
                </a:lnTo>
                <a:close/>
              </a:path>
            </a:pathLst>
          </a:custGeom>
          <a:solidFill>
            <a:srgbClr val="FFFFFF">
              <a:alpha val="1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8890000" y="3759200"/>
            <a:ext cx="60452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Analytics Dashboard Screenshot</a:t>
            </a:r>
            <a:endParaRPr b="0" i="0" sz="1600" u="none" cap="none" strike="noStrike"/>
          </a:p>
          <a:p>
            <a:pPr indent="0" lvl="0" marL="0" marR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charts showing fund rankings and returns</a:t>
            </a:r>
            <a:endParaRPr b="0" i="0" sz="1600" u="none" cap="none" strike="noStrike"/>
          </a:p>
        </p:txBody>
      </p:sp>
      <p:sp>
        <p:nvSpPr>
          <p:cNvPr id="275" name="Google Shape;275;p11"/>
          <p:cNvSpPr/>
          <p:nvPr/>
        </p:nvSpPr>
        <p:spPr>
          <a:xfrm>
            <a:off x="812800" y="6096000"/>
            <a:ext cx="14630400" cy="1016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1066800" y="6248400"/>
            <a:ext cx="14122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Insight: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Performance ranking of mutual fund schemes based on historical returns and risk-adjusted performance metrics enables informed investment decisions.</a:t>
            </a:r>
            <a:endParaRPr b="0" i="0" sz="1600" u="none" cap="none" strike="noStrike"/>
          </a:p>
        </p:txBody>
      </p:sp>
      <p:pic>
        <p:nvPicPr>
          <p:cNvPr descr="https://kimi-img.moonshot.cn/pub/slides/26-06-03-02:01:30-d8fhkui4k4bc9qi6o9ug.png" id="277" name="Google Shape;2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1016000"/>
            <a:ext cx="7061200" cy="47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Risk Analysis Module</a:t>
            </a:r>
            <a:endParaRPr b="0" i="0" sz="1600" u="none" cap="none" strike="noStrike"/>
          </a:p>
        </p:txBody>
      </p:sp>
      <p:sp>
        <p:nvSpPr>
          <p:cNvPr id="285" name="Google Shape;285;p12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1600" u="none" cap="none" strike="noStrike"/>
          </a:p>
        </p:txBody>
      </p:sp>
      <p:sp>
        <p:nvSpPr>
          <p:cNvPr id="286" name="Google Shape;286;p12"/>
          <p:cNvSpPr/>
          <p:nvPr/>
        </p:nvSpPr>
        <p:spPr>
          <a:xfrm>
            <a:off x="812800" y="10160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Key Risk Metrics</a:t>
            </a:r>
            <a:endParaRPr b="0" i="0" sz="1600" u="none" cap="none" strike="noStrike"/>
          </a:p>
        </p:txBody>
      </p:sp>
      <p:sp>
        <p:nvSpPr>
          <p:cNvPr id="287" name="Google Shape;287;p12"/>
          <p:cNvSpPr/>
          <p:nvPr/>
        </p:nvSpPr>
        <p:spPr>
          <a:xfrm>
            <a:off x="812800" y="1574800"/>
            <a:ext cx="7112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812800" y="1574800"/>
            <a:ext cx="50800" cy="127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066800" y="1879600"/>
            <a:ext cx="406400" cy="406400"/>
          </a:xfrm>
          <a:custGeom>
            <a:rect b="b" l="l" r="r" t="t"/>
            <a:pathLst>
              <a:path extrusionOk="0" h="406400" w="406400">
                <a:moveTo>
                  <a:pt x="50800" y="76200"/>
                </a:moveTo>
                <a:cubicBezTo>
                  <a:pt x="50800" y="62151"/>
                  <a:pt x="62151" y="50800"/>
                  <a:pt x="76200" y="50800"/>
                </a:cubicBezTo>
                <a:lnTo>
                  <a:pt x="203200" y="50800"/>
                </a:lnTo>
                <a:cubicBezTo>
                  <a:pt x="217249" y="50800"/>
                  <a:pt x="228600" y="62151"/>
                  <a:pt x="228600" y="76200"/>
                </a:cubicBezTo>
                <a:lnTo>
                  <a:pt x="228600" y="304800"/>
                </a:lnTo>
                <a:lnTo>
                  <a:pt x="304800" y="304800"/>
                </a:lnTo>
                <a:lnTo>
                  <a:pt x="304800" y="203200"/>
                </a:lnTo>
                <a:cubicBezTo>
                  <a:pt x="304800" y="189151"/>
                  <a:pt x="316151" y="177800"/>
                  <a:pt x="330200" y="177800"/>
                </a:cubicBez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355600" y="228600"/>
                </a:lnTo>
                <a:lnTo>
                  <a:pt x="355600" y="330200"/>
                </a:lnTo>
                <a:cubicBezTo>
                  <a:pt x="355600" y="344249"/>
                  <a:pt x="344249" y="355600"/>
                  <a:pt x="330200" y="355600"/>
                </a:cubicBezTo>
                <a:lnTo>
                  <a:pt x="203200" y="355600"/>
                </a:lnTo>
                <a:cubicBezTo>
                  <a:pt x="189151" y="355600"/>
                  <a:pt x="177800" y="344249"/>
                  <a:pt x="177800" y="330200"/>
                </a:cubicBezTo>
                <a:lnTo>
                  <a:pt x="177800" y="101600"/>
                </a:lnTo>
                <a:lnTo>
                  <a:pt x="101600" y="101600"/>
                </a:lnTo>
                <a:lnTo>
                  <a:pt x="101600" y="203200"/>
                </a:lnTo>
                <a:cubicBezTo>
                  <a:pt x="101600" y="217249"/>
                  <a:pt x="90249" y="228600"/>
                  <a:pt x="76200" y="228600"/>
                </a:cubicBezTo>
                <a:lnTo>
                  <a:pt x="25400" y="228600"/>
                </a:lnTo>
                <a:cubicBezTo>
                  <a:pt x="11351" y="228600"/>
                  <a:pt x="0" y="217249"/>
                  <a:pt x="0" y="203200"/>
                </a:cubicBezTo>
                <a:cubicBezTo>
                  <a:pt x="0" y="189151"/>
                  <a:pt x="11351" y="177800"/>
                  <a:pt x="25400" y="177800"/>
                </a:cubicBezTo>
                <a:lnTo>
                  <a:pt x="50800" y="177800"/>
                </a:lnTo>
                <a:lnTo>
                  <a:pt x="50800" y="76200"/>
                </a:ln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1651000" y="1727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Volatility</a:t>
            </a:r>
            <a:endParaRPr b="0" i="0" sz="1600" u="none" cap="none" strike="noStrike"/>
          </a:p>
        </p:txBody>
      </p:sp>
      <p:sp>
        <p:nvSpPr>
          <p:cNvPr id="291" name="Google Shape;291;p12"/>
          <p:cNvSpPr/>
          <p:nvPr/>
        </p:nvSpPr>
        <p:spPr>
          <a:xfrm>
            <a:off x="1651000" y="2082800"/>
            <a:ext cx="6070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 deviation of returns — measures the degree of variation in fund performance over time</a:t>
            </a:r>
            <a:endParaRPr b="0" i="0" sz="1600" u="none" cap="none" strike="noStrike"/>
          </a:p>
        </p:txBody>
      </p:sp>
      <p:sp>
        <p:nvSpPr>
          <p:cNvPr id="292" name="Google Shape;292;p12"/>
          <p:cNvSpPr/>
          <p:nvPr/>
        </p:nvSpPr>
        <p:spPr>
          <a:xfrm>
            <a:off x="812800" y="3048000"/>
            <a:ext cx="7112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812800" y="3048000"/>
            <a:ext cx="50800" cy="127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1041400" y="3352800"/>
            <a:ext cx="457200" cy="406400"/>
          </a:xfrm>
          <a:custGeom>
            <a:rect b="b" l="l" r="r" t="t"/>
            <a:pathLst>
              <a:path extrusionOk="0" h="406400" w="457200">
                <a:moveTo>
                  <a:pt x="304800" y="279400"/>
                </a:moveTo>
                <a:cubicBezTo>
                  <a:pt x="290751" y="279400"/>
                  <a:pt x="279400" y="290751"/>
                  <a:pt x="279400" y="304800"/>
                </a:cubicBezTo>
                <a:cubicBezTo>
                  <a:pt x="279400" y="318849"/>
                  <a:pt x="290751" y="330200"/>
                  <a:pt x="304800" y="330200"/>
                </a:cubicBezTo>
                <a:lnTo>
                  <a:pt x="431800" y="330200"/>
                </a:lnTo>
                <a:cubicBezTo>
                  <a:pt x="445849" y="330200"/>
                  <a:pt x="457200" y="318849"/>
                  <a:pt x="457200" y="304800"/>
                </a:cubicBezTo>
                <a:lnTo>
                  <a:pt x="457200" y="177800"/>
                </a:lnTo>
                <a:cubicBezTo>
                  <a:pt x="457200" y="163751"/>
                  <a:pt x="445849" y="152400"/>
                  <a:pt x="431800" y="152400"/>
                </a:cubicBezTo>
                <a:cubicBezTo>
                  <a:pt x="417751" y="152400"/>
                  <a:pt x="406400" y="163751"/>
                  <a:pt x="406400" y="177800"/>
                </a:cubicBezTo>
                <a:lnTo>
                  <a:pt x="406400" y="243443"/>
                </a:lnTo>
                <a:lnTo>
                  <a:pt x="271939" y="108982"/>
                </a:lnTo>
                <a:cubicBezTo>
                  <a:pt x="262017" y="99060"/>
                  <a:pt x="245904" y="99060"/>
                  <a:pt x="235982" y="108982"/>
                </a:cubicBezTo>
                <a:lnTo>
                  <a:pt x="152400" y="192643"/>
                </a:lnTo>
                <a:lnTo>
                  <a:pt x="43339" y="83661"/>
                </a:lnTo>
                <a:cubicBezTo>
                  <a:pt x="33417" y="73739"/>
                  <a:pt x="17304" y="73739"/>
                  <a:pt x="7382" y="83661"/>
                </a:cubicBezTo>
                <a:cubicBezTo>
                  <a:pt x="-2540" y="93583"/>
                  <a:pt x="-2540" y="109696"/>
                  <a:pt x="7382" y="119618"/>
                </a:cubicBezTo>
                <a:lnTo>
                  <a:pt x="134382" y="246618"/>
                </a:lnTo>
                <a:cubicBezTo>
                  <a:pt x="144304" y="256540"/>
                  <a:pt x="160417" y="256540"/>
                  <a:pt x="170339" y="246618"/>
                </a:cubicBezTo>
                <a:lnTo>
                  <a:pt x="254000" y="162957"/>
                </a:lnTo>
                <a:lnTo>
                  <a:pt x="370443" y="279400"/>
                </a:lnTo>
                <a:lnTo>
                  <a:pt x="304800" y="279400"/>
                </a:lnTo>
                <a:close/>
              </a:path>
            </a:pathLst>
          </a:cu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1651000" y="3200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Maximum Drawdown</a:t>
            </a:r>
            <a:endParaRPr b="0" i="0" sz="1600" u="none" cap="none" strike="noStrike"/>
          </a:p>
        </p:txBody>
      </p:sp>
      <p:sp>
        <p:nvSpPr>
          <p:cNvPr id="296" name="Google Shape;296;p12"/>
          <p:cNvSpPr/>
          <p:nvPr/>
        </p:nvSpPr>
        <p:spPr>
          <a:xfrm>
            <a:off x="1651000" y="3556000"/>
            <a:ext cx="6070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Largest peak-to-trough decline — indicates the worst-case scenario for investment loss</a:t>
            </a:r>
            <a:endParaRPr b="0" i="0" sz="1600" u="none" cap="none" strike="noStrike"/>
          </a:p>
        </p:txBody>
      </p:sp>
      <p:sp>
        <p:nvSpPr>
          <p:cNvPr id="297" name="Google Shape;297;p12"/>
          <p:cNvSpPr/>
          <p:nvPr/>
        </p:nvSpPr>
        <p:spPr>
          <a:xfrm>
            <a:off x="812800" y="4521200"/>
            <a:ext cx="7112000" cy="1270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812800" y="4521200"/>
            <a:ext cx="50800" cy="127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1066800" y="4826000"/>
            <a:ext cx="406400" cy="406400"/>
          </a:xfrm>
          <a:custGeom>
            <a:rect b="b" l="l" r="r" t="t"/>
            <a:pathLst>
              <a:path extrusionOk="0" h="406400" w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1651000" y="46736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Value at Risk (VaR)</a:t>
            </a:r>
            <a:endParaRPr b="0" i="0" sz="1600" u="none" cap="none" strike="noStrike"/>
          </a:p>
        </p:txBody>
      </p:sp>
      <p:sp>
        <p:nvSpPr>
          <p:cNvPr id="301" name="Google Shape;301;p12"/>
          <p:cNvSpPr/>
          <p:nvPr/>
        </p:nvSpPr>
        <p:spPr>
          <a:xfrm>
            <a:off x="1651000" y="5029200"/>
            <a:ext cx="6070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Estimates potential loss at a given confidence level — quantifies downside risk exposure</a:t>
            </a:r>
            <a:endParaRPr b="0" i="0" sz="1600" u="none" cap="none" strike="noStrike"/>
          </a:p>
        </p:txBody>
      </p:sp>
      <p:sp>
        <p:nvSpPr>
          <p:cNvPr id="302" name="Google Shape;302;p12"/>
          <p:cNvSpPr/>
          <p:nvPr/>
        </p:nvSpPr>
        <p:spPr>
          <a:xfrm>
            <a:off x="8382000" y="1016000"/>
            <a:ext cx="7061200" cy="47752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8686800" y="1270000"/>
            <a:ext cx="6451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Risk Analysis Dashboard</a:t>
            </a:r>
            <a:endParaRPr b="0" i="0" sz="1600" u="none" cap="none" strike="noStrike"/>
          </a:p>
        </p:txBody>
      </p:sp>
      <p:cxnSp>
        <p:nvCxnSpPr>
          <p:cNvPr id="304" name="Google Shape;304;p12"/>
          <p:cNvCxnSpPr/>
          <p:nvPr/>
        </p:nvCxnSpPr>
        <p:spPr>
          <a:xfrm>
            <a:off x="8686800" y="1701800"/>
            <a:ext cx="127000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2"/>
          <p:cNvSpPr/>
          <p:nvPr/>
        </p:nvSpPr>
        <p:spPr>
          <a:xfrm>
            <a:off x="11176000" y="2794000"/>
            <a:ext cx="812800" cy="812800"/>
          </a:xfrm>
          <a:custGeom>
            <a:rect b="b" l="l" r="r" t="t"/>
            <a:pathLst>
              <a:path extrusionOk="0" h="812800" w="812800">
                <a:moveTo>
                  <a:pt x="50800" y="50800"/>
                </a:moveTo>
                <a:cubicBezTo>
                  <a:pt x="78899" y="50800"/>
                  <a:pt x="101600" y="73501"/>
                  <a:pt x="101600" y="101600"/>
                </a:cubicBezTo>
                <a:lnTo>
                  <a:pt x="101600" y="635000"/>
                </a:lnTo>
                <a:cubicBezTo>
                  <a:pt x="101600" y="648970"/>
                  <a:pt x="113030" y="660400"/>
                  <a:pt x="127000" y="660400"/>
                </a:cubicBezTo>
                <a:lnTo>
                  <a:pt x="762000" y="660400"/>
                </a:lnTo>
                <a:cubicBezTo>
                  <a:pt x="790099" y="660400"/>
                  <a:pt x="812800" y="683101"/>
                  <a:pt x="812800" y="711200"/>
                </a:cubicBezTo>
                <a:cubicBezTo>
                  <a:pt x="812800" y="739299"/>
                  <a:pt x="790099" y="762000"/>
                  <a:pt x="762000" y="762000"/>
                </a:cubicBezTo>
                <a:lnTo>
                  <a:pt x="127000" y="762000"/>
                </a:lnTo>
                <a:cubicBezTo>
                  <a:pt x="56832" y="762000"/>
                  <a:pt x="0" y="705168"/>
                  <a:pt x="0" y="635000"/>
                </a:cubicBezTo>
                <a:lnTo>
                  <a:pt x="0" y="101600"/>
                </a:lnTo>
                <a:cubicBezTo>
                  <a:pt x="0" y="73501"/>
                  <a:pt x="22701" y="50800"/>
                  <a:pt x="50800" y="50800"/>
                </a:cubicBezTo>
                <a:close/>
                <a:moveTo>
                  <a:pt x="381000" y="152400"/>
                </a:moveTo>
                <a:cubicBezTo>
                  <a:pt x="391636" y="152400"/>
                  <a:pt x="401796" y="156845"/>
                  <a:pt x="409099" y="164783"/>
                </a:cubicBezTo>
                <a:lnTo>
                  <a:pt x="521970" y="287814"/>
                </a:lnTo>
                <a:lnTo>
                  <a:pt x="595313" y="214313"/>
                </a:lnTo>
                <a:cubicBezTo>
                  <a:pt x="610235" y="199390"/>
                  <a:pt x="634365" y="199390"/>
                  <a:pt x="649129" y="214313"/>
                </a:cubicBezTo>
                <a:lnTo>
                  <a:pt x="750729" y="315913"/>
                </a:lnTo>
                <a:cubicBezTo>
                  <a:pt x="757873" y="323056"/>
                  <a:pt x="761841" y="332740"/>
                  <a:pt x="761841" y="342900"/>
                </a:cubicBezTo>
                <a:lnTo>
                  <a:pt x="761841" y="520700"/>
                </a:lnTo>
                <a:cubicBezTo>
                  <a:pt x="761841" y="541814"/>
                  <a:pt x="744855" y="558800"/>
                  <a:pt x="723741" y="558800"/>
                </a:cubicBezTo>
                <a:lnTo>
                  <a:pt x="241141" y="558800"/>
                </a:lnTo>
                <a:cubicBezTo>
                  <a:pt x="220027" y="558800"/>
                  <a:pt x="203041" y="541814"/>
                  <a:pt x="203041" y="520700"/>
                </a:cubicBezTo>
                <a:lnTo>
                  <a:pt x="203041" y="342900"/>
                </a:lnTo>
                <a:cubicBezTo>
                  <a:pt x="203041" y="333375"/>
                  <a:pt x="206692" y="324167"/>
                  <a:pt x="213042" y="317183"/>
                </a:cubicBezTo>
                <a:lnTo>
                  <a:pt x="352742" y="164783"/>
                </a:lnTo>
                <a:cubicBezTo>
                  <a:pt x="359886" y="156845"/>
                  <a:pt x="370205" y="152400"/>
                  <a:pt x="380841" y="152400"/>
                </a:cubicBezTo>
                <a:close/>
              </a:path>
            </a:pathLst>
          </a:custGeom>
          <a:solidFill>
            <a:srgbClr val="FFFFFF">
              <a:alpha val="1882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8890000" y="3759200"/>
            <a:ext cx="60452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Analysis Dashboard Screenshot</a:t>
            </a:r>
            <a:endParaRPr b="0" i="0" sz="1600" u="none" cap="none" strike="noStrike"/>
          </a:p>
          <a:p>
            <a:pPr indent="0" lvl="0" marL="0" marR="0" rtl="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 risk profiling with color-coded indicators</a:t>
            </a:r>
            <a:endParaRPr b="0" i="0" sz="1600" u="none" cap="none" strike="noStrike"/>
          </a:p>
        </p:txBody>
      </p:sp>
      <p:sp>
        <p:nvSpPr>
          <p:cNvPr id="307" name="Google Shape;307;p12"/>
          <p:cNvSpPr/>
          <p:nvPr/>
        </p:nvSpPr>
        <p:spPr>
          <a:xfrm>
            <a:off x="812800" y="6096000"/>
            <a:ext cx="14630400" cy="1016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1066800" y="6248400"/>
            <a:ext cx="14122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Insight: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module identifies high-risk and low-risk investment options, enabling investors to align fund selection with their risk tolerance levels.</a:t>
            </a:r>
            <a:endParaRPr b="0" i="0" sz="1600" u="none" cap="none" strike="noStrike"/>
          </a:p>
        </p:txBody>
      </p:sp>
      <p:pic>
        <p:nvPicPr>
          <p:cNvPr descr="https://kimi-img.moonshot.cn/pub/slides/26-06-03-02:00:52-d8fhkl3kvk6sc684sii0.png" id="309" name="Google Shape;3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1016000"/>
            <a:ext cx="7061200" cy="47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Recommendation Engine</a:t>
            </a:r>
            <a:endParaRPr b="0" i="0" sz="1600" u="none" cap="none" strike="noStrike"/>
          </a:p>
        </p:txBody>
      </p:sp>
      <p:sp>
        <p:nvSpPr>
          <p:cNvPr id="317" name="Google Shape;317;p13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600" u="none" cap="none" strike="noStrike"/>
          </a:p>
        </p:txBody>
      </p:sp>
      <p:sp>
        <p:nvSpPr>
          <p:cNvPr id="318" name="Google Shape;318;p13"/>
          <p:cNvSpPr/>
          <p:nvPr/>
        </p:nvSpPr>
        <p:spPr>
          <a:xfrm>
            <a:off x="812800" y="965200"/>
            <a:ext cx="14630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recommendation engine uses performance and risk metrics to generate suitable fund recommendations based on investor profiles.</a:t>
            </a:r>
            <a:endParaRPr b="0" i="0" sz="1600" u="none" cap="none" strike="noStrike"/>
          </a:p>
        </p:txBody>
      </p:sp>
      <p:sp>
        <p:nvSpPr>
          <p:cNvPr id="319" name="Google Shape;319;p13"/>
          <p:cNvSpPr/>
          <p:nvPr/>
        </p:nvSpPr>
        <p:spPr>
          <a:xfrm>
            <a:off x="812800" y="1625600"/>
            <a:ext cx="4699000" cy="3556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812800" y="1625600"/>
            <a:ext cx="46990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1016000" y="1930400"/>
            <a:ext cx="508000" cy="508000"/>
          </a:xfrm>
          <a:custGeom>
            <a:rect b="b" l="l" r="r" t="t"/>
            <a:pathLst>
              <a:path extrusionOk="0" h="508000" w="508000">
                <a:moveTo>
                  <a:pt x="267295" y="2877"/>
                </a:moveTo>
                <a:cubicBezTo>
                  <a:pt x="263128" y="992"/>
                  <a:pt x="258663" y="0"/>
                  <a:pt x="254000" y="0"/>
                </a:cubicBezTo>
                <a:cubicBezTo>
                  <a:pt x="249337" y="0"/>
                  <a:pt x="244872" y="992"/>
                  <a:pt x="240705" y="2877"/>
                </a:cubicBezTo>
                <a:lnTo>
                  <a:pt x="53876" y="82153"/>
                </a:lnTo>
                <a:cubicBezTo>
                  <a:pt x="32048" y="91380"/>
                  <a:pt x="15776" y="112911"/>
                  <a:pt x="15875" y="138906"/>
                </a:cubicBezTo>
                <a:cubicBezTo>
                  <a:pt x="16371" y="237331"/>
                  <a:pt x="56852" y="417413"/>
                  <a:pt x="227806" y="499269"/>
                </a:cubicBezTo>
                <a:cubicBezTo>
                  <a:pt x="244376" y="507206"/>
                  <a:pt x="263624" y="507206"/>
                  <a:pt x="280194" y="499269"/>
                </a:cubicBezTo>
                <a:cubicBezTo>
                  <a:pt x="451247" y="417413"/>
                  <a:pt x="491728" y="237331"/>
                  <a:pt x="492125" y="138906"/>
                </a:cubicBezTo>
                <a:cubicBezTo>
                  <a:pt x="492224" y="112911"/>
                  <a:pt x="475952" y="91380"/>
                  <a:pt x="454124" y="82153"/>
                </a:cubicBezTo>
                <a:lnTo>
                  <a:pt x="267295" y="2877"/>
                </a:lnTo>
                <a:close/>
                <a:moveTo>
                  <a:pt x="247650" y="182066"/>
                </a:moveTo>
                <a:lnTo>
                  <a:pt x="254000" y="190500"/>
                </a:lnTo>
                <a:lnTo>
                  <a:pt x="260350" y="182066"/>
                </a:lnTo>
                <a:cubicBezTo>
                  <a:pt x="271363" y="167382"/>
                  <a:pt x="288627" y="158750"/>
                  <a:pt x="306884" y="158750"/>
                </a:cubicBezTo>
                <a:cubicBezTo>
                  <a:pt x="339030" y="158750"/>
                  <a:pt x="365125" y="184845"/>
                  <a:pt x="365125" y="216991"/>
                </a:cubicBezTo>
                <a:lnTo>
                  <a:pt x="365125" y="222250"/>
                </a:lnTo>
                <a:cubicBezTo>
                  <a:pt x="365125" y="270966"/>
                  <a:pt x="299839" y="319584"/>
                  <a:pt x="269379" y="339626"/>
                </a:cubicBezTo>
                <a:cubicBezTo>
                  <a:pt x="259953" y="345777"/>
                  <a:pt x="248047" y="345777"/>
                  <a:pt x="238720" y="339626"/>
                </a:cubicBezTo>
                <a:cubicBezTo>
                  <a:pt x="208260" y="319584"/>
                  <a:pt x="142974" y="270867"/>
                  <a:pt x="142974" y="222250"/>
                </a:cubicBezTo>
                <a:lnTo>
                  <a:pt x="142974" y="216991"/>
                </a:lnTo>
                <a:cubicBezTo>
                  <a:pt x="142974" y="184845"/>
                  <a:pt x="169069" y="158750"/>
                  <a:pt x="201216" y="158750"/>
                </a:cubicBezTo>
                <a:cubicBezTo>
                  <a:pt x="219571" y="158750"/>
                  <a:pt x="236835" y="167382"/>
                  <a:pt x="247749" y="182066"/>
                </a:cubicBezTo>
                <a:close/>
              </a:path>
            </a:pathLst>
          </a:cu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1651000" y="1981200"/>
            <a:ext cx="3606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Conservative</a:t>
            </a:r>
            <a:endParaRPr b="0" i="0" sz="1600" u="none" cap="none" strike="noStrike"/>
          </a:p>
        </p:txBody>
      </p:sp>
      <p:sp>
        <p:nvSpPr>
          <p:cNvPr id="323" name="Google Shape;323;p13"/>
          <p:cNvSpPr/>
          <p:nvPr/>
        </p:nvSpPr>
        <p:spPr>
          <a:xfrm>
            <a:off x="1016000" y="2616200"/>
            <a:ext cx="42926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Prioritizes capital preservation with low-risk funds, debt-oriented schemes, and stable returns.</a:t>
            </a:r>
            <a:endParaRPr b="0" i="0" sz="1600" u="none" cap="none" strike="noStrike"/>
          </a:p>
        </p:txBody>
      </p:sp>
      <p:sp>
        <p:nvSpPr>
          <p:cNvPr id="324" name="Google Shape;324;p13"/>
          <p:cNvSpPr/>
          <p:nvPr/>
        </p:nvSpPr>
        <p:spPr>
          <a:xfrm>
            <a:off x="1016000" y="3683000"/>
            <a:ext cx="42926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Low Volatility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Debt Funds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7AE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Stable Returns</a:t>
            </a:r>
            <a:endParaRPr b="0" i="0" sz="1600" u="none" cap="none" strike="noStrike"/>
          </a:p>
        </p:txBody>
      </p:sp>
      <p:sp>
        <p:nvSpPr>
          <p:cNvPr id="325" name="Google Shape;325;p13"/>
          <p:cNvSpPr/>
          <p:nvPr/>
        </p:nvSpPr>
        <p:spPr>
          <a:xfrm>
            <a:off x="5765800" y="1625600"/>
            <a:ext cx="4699000" cy="3556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5765800" y="1625600"/>
            <a:ext cx="46990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5905500" y="1930400"/>
            <a:ext cx="635000" cy="508000"/>
          </a:xfrm>
          <a:custGeom>
            <a:rect b="b" l="l" r="r" t="t"/>
            <a:pathLst>
              <a:path extrusionOk="0" h="508000" w="635000">
                <a:moveTo>
                  <a:pt x="381000" y="31750"/>
                </a:moveTo>
                <a:lnTo>
                  <a:pt x="508000" y="31750"/>
                </a:lnTo>
                <a:cubicBezTo>
                  <a:pt x="525562" y="31750"/>
                  <a:pt x="539750" y="45938"/>
                  <a:pt x="539750" y="63500"/>
                </a:cubicBezTo>
                <a:cubicBezTo>
                  <a:pt x="539750" y="81062"/>
                  <a:pt x="525562" y="95250"/>
                  <a:pt x="508000" y="95250"/>
                </a:cubicBezTo>
                <a:lnTo>
                  <a:pt x="395287" y="95250"/>
                </a:lnTo>
                <a:cubicBezTo>
                  <a:pt x="390128" y="120848"/>
                  <a:pt x="372566" y="141982"/>
                  <a:pt x="349250" y="152102"/>
                </a:cubicBezTo>
                <a:lnTo>
                  <a:pt x="349250" y="444500"/>
                </a:lnTo>
                <a:lnTo>
                  <a:pt x="508000" y="444500"/>
                </a:lnTo>
                <a:cubicBezTo>
                  <a:pt x="525562" y="444500"/>
                  <a:pt x="539750" y="458688"/>
                  <a:pt x="539750" y="476250"/>
                </a:cubicBezTo>
                <a:cubicBezTo>
                  <a:pt x="539750" y="493812"/>
                  <a:pt x="525562" y="508000"/>
                  <a:pt x="508000" y="508000"/>
                </a:cubicBezTo>
                <a:lnTo>
                  <a:pt x="127000" y="508000"/>
                </a:lnTo>
                <a:cubicBezTo>
                  <a:pt x="109438" y="508000"/>
                  <a:pt x="95250" y="493812"/>
                  <a:pt x="95250" y="476250"/>
                </a:cubicBezTo>
                <a:cubicBezTo>
                  <a:pt x="95250" y="458688"/>
                  <a:pt x="109438" y="444500"/>
                  <a:pt x="127000" y="444500"/>
                </a:cubicBezTo>
                <a:lnTo>
                  <a:pt x="285750" y="444500"/>
                </a:lnTo>
                <a:lnTo>
                  <a:pt x="285750" y="152102"/>
                </a:lnTo>
                <a:cubicBezTo>
                  <a:pt x="262434" y="141883"/>
                  <a:pt x="244872" y="120749"/>
                  <a:pt x="239713" y="95250"/>
                </a:cubicBezTo>
                <a:lnTo>
                  <a:pt x="127000" y="95250"/>
                </a:lnTo>
                <a:cubicBezTo>
                  <a:pt x="109438" y="95250"/>
                  <a:pt x="95250" y="81062"/>
                  <a:pt x="95250" y="63500"/>
                </a:cubicBezTo>
                <a:cubicBezTo>
                  <a:pt x="95250" y="45938"/>
                  <a:pt x="109438" y="31750"/>
                  <a:pt x="127000" y="31750"/>
                </a:cubicBezTo>
                <a:lnTo>
                  <a:pt x="254000" y="31750"/>
                </a:lnTo>
                <a:cubicBezTo>
                  <a:pt x="268486" y="12502"/>
                  <a:pt x="291505" y="0"/>
                  <a:pt x="317500" y="0"/>
                </a:cubicBezTo>
                <a:cubicBezTo>
                  <a:pt x="343495" y="0"/>
                  <a:pt x="366514" y="12502"/>
                  <a:pt x="381000" y="31750"/>
                </a:cubicBezTo>
                <a:close/>
                <a:moveTo>
                  <a:pt x="436166" y="317500"/>
                </a:moveTo>
                <a:lnTo>
                  <a:pt x="579834" y="317500"/>
                </a:lnTo>
                <a:lnTo>
                  <a:pt x="508000" y="194270"/>
                </a:lnTo>
                <a:lnTo>
                  <a:pt x="436166" y="317500"/>
                </a:lnTo>
                <a:close/>
                <a:moveTo>
                  <a:pt x="508000" y="412750"/>
                </a:moveTo>
                <a:cubicBezTo>
                  <a:pt x="445591" y="412750"/>
                  <a:pt x="393700" y="379016"/>
                  <a:pt x="382984" y="334466"/>
                </a:cubicBezTo>
                <a:cubicBezTo>
                  <a:pt x="380405" y="323552"/>
                  <a:pt x="383977" y="312341"/>
                  <a:pt x="389632" y="302617"/>
                </a:cubicBezTo>
                <a:lnTo>
                  <a:pt x="484088" y="140692"/>
                </a:lnTo>
                <a:cubicBezTo>
                  <a:pt x="489049" y="132159"/>
                  <a:pt x="498177" y="127000"/>
                  <a:pt x="508000" y="127000"/>
                </a:cubicBezTo>
                <a:cubicBezTo>
                  <a:pt x="517823" y="127000"/>
                  <a:pt x="526951" y="132259"/>
                  <a:pt x="531912" y="140692"/>
                </a:cubicBezTo>
                <a:lnTo>
                  <a:pt x="626368" y="302617"/>
                </a:lnTo>
                <a:cubicBezTo>
                  <a:pt x="632023" y="312341"/>
                  <a:pt x="635595" y="323552"/>
                  <a:pt x="633016" y="334466"/>
                </a:cubicBezTo>
                <a:cubicBezTo>
                  <a:pt x="622300" y="378916"/>
                  <a:pt x="570409" y="412750"/>
                  <a:pt x="508000" y="412750"/>
                </a:cubicBezTo>
                <a:close/>
                <a:moveTo>
                  <a:pt x="125809" y="194270"/>
                </a:moveTo>
                <a:lnTo>
                  <a:pt x="53975" y="317500"/>
                </a:lnTo>
                <a:lnTo>
                  <a:pt x="197743" y="317500"/>
                </a:lnTo>
                <a:lnTo>
                  <a:pt x="125809" y="194270"/>
                </a:lnTo>
                <a:close/>
                <a:moveTo>
                  <a:pt x="893" y="334466"/>
                </a:moveTo>
                <a:cubicBezTo>
                  <a:pt x="-1687" y="323552"/>
                  <a:pt x="1885" y="312341"/>
                  <a:pt x="7541" y="302617"/>
                </a:cubicBezTo>
                <a:lnTo>
                  <a:pt x="101997" y="140692"/>
                </a:lnTo>
                <a:cubicBezTo>
                  <a:pt x="106958" y="132159"/>
                  <a:pt x="116086" y="127000"/>
                  <a:pt x="125909" y="127000"/>
                </a:cubicBezTo>
                <a:cubicBezTo>
                  <a:pt x="135731" y="127000"/>
                  <a:pt x="144859" y="132259"/>
                  <a:pt x="149820" y="140692"/>
                </a:cubicBezTo>
                <a:lnTo>
                  <a:pt x="244277" y="302617"/>
                </a:lnTo>
                <a:cubicBezTo>
                  <a:pt x="249932" y="312341"/>
                  <a:pt x="253504" y="323552"/>
                  <a:pt x="250924" y="334466"/>
                </a:cubicBezTo>
                <a:cubicBezTo>
                  <a:pt x="240209" y="378916"/>
                  <a:pt x="188317" y="412750"/>
                  <a:pt x="125909" y="412750"/>
                </a:cubicBezTo>
                <a:cubicBezTo>
                  <a:pt x="63500" y="412750"/>
                  <a:pt x="11609" y="379016"/>
                  <a:pt x="893" y="334466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6604000" y="1981200"/>
            <a:ext cx="3606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Moderate</a:t>
            </a:r>
            <a:endParaRPr b="0" i="0" sz="1600" u="none" cap="none" strike="noStrike"/>
          </a:p>
        </p:txBody>
      </p:sp>
      <p:sp>
        <p:nvSpPr>
          <p:cNvPr id="329" name="Google Shape;329;p13"/>
          <p:cNvSpPr/>
          <p:nvPr/>
        </p:nvSpPr>
        <p:spPr>
          <a:xfrm>
            <a:off x="5969000" y="2616200"/>
            <a:ext cx="42926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Balanced approach with hybrid funds, moderate risk tolerance, and diversified portfolio.</a:t>
            </a:r>
            <a:endParaRPr b="0" i="0" sz="1600" u="none" cap="none" strike="noStrike"/>
          </a:p>
        </p:txBody>
      </p:sp>
      <p:sp>
        <p:nvSpPr>
          <p:cNvPr id="330" name="Google Shape;330;p13"/>
          <p:cNvSpPr/>
          <p:nvPr/>
        </p:nvSpPr>
        <p:spPr>
          <a:xfrm>
            <a:off x="5969000" y="3683000"/>
            <a:ext cx="42926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Medium Volatility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Hybrid Funds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Balanced Risk-Return</a:t>
            </a:r>
            <a:endParaRPr b="0" i="0" sz="1600" u="none" cap="none" strike="noStrike"/>
          </a:p>
        </p:txBody>
      </p:sp>
      <p:sp>
        <p:nvSpPr>
          <p:cNvPr id="331" name="Google Shape;331;p13"/>
          <p:cNvSpPr/>
          <p:nvPr/>
        </p:nvSpPr>
        <p:spPr>
          <a:xfrm>
            <a:off x="10718800" y="1625600"/>
            <a:ext cx="4724400" cy="3556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10718800" y="1625600"/>
            <a:ext cx="47244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10922000" y="1930400"/>
            <a:ext cx="508000" cy="508000"/>
          </a:xfrm>
          <a:custGeom>
            <a:rect b="b" l="l" r="r" t="t"/>
            <a:pathLst>
              <a:path extrusionOk="0" h="508000" w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11557000" y="1981200"/>
            <a:ext cx="3606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Aggressive</a:t>
            </a:r>
            <a:endParaRPr b="0" i="0" sz="1600" u="none" cap="none" strike="noStrike"/>
          </a:p>
        </p:txBody>
      </p:sp>
      <p:sp>
        <p:nvSpPr>
          <p:cNvPr id="335" name="Google Shape;335;p13"/>
          <p:cNvSpPr/>
          <p:nvPr/>
        </p:nvSpPr>
        <p:spPr>
          <a:xfrm>
            <a:off x="10922000" y="2616200"/>
            <a:ext cx="431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growth focus with equity funds, higher risk tolerance, and long-term wealth creation.</a:t>
            </a:r>
            <a:endParaRPr b="0" i="0" sz="1600" u="none" cap="none" strike="noStrike"/>
          </a:p>
        </p:txBody>
      </p:sp>
      <p:sp>
        <p:nvSpPr>
          <p:cNvPr id="336" name="Google Shape;336;p13"/>
          <p:cNvSpPr/>
          <p:nvPr/>
        </p:nvSpPr>
        <p:spPr>
          <a:xfrm>
            <a:off x="10922000" y="3683000"/>
            <a:ext cx="4318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74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High Volatility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74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Equity Funds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74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8B8C8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High Growth Potential</a:t>
            </a:r>
            <a:endParaRPr b="0" i="0" sz="1600" u="none" cap="none" strike="noStrike"/>
          </a:p>
        </p:txBody>
      </p:sp>
      <p:sp>
        <p:nvSpPr>
          <p:cNvPr id="337" name="Google Shape;337;p13"/>
          <p:cNvSpPr/>
          <p:nvPr/>
        </p:nvSpPr>
        <p:spPr>
          <a:xfrm>
            <a:off x="812800" y="5486400"/>
            <a:ext cx="14630400" cy="1524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1231900" y="5842000"/>
            <a:ext cx="685800" cy="609600"/>
          </a:xfrm>
          <a:custGeom>
            <a:rect b="b" l="l" r="r" t="t"/>
            <a:pathLst>
              <a:path extrusionOk="0" h="609600" w="685800">
                <a:moveTo>
                  <a:pt x="313611" y="-32147"/>
                </a:moveTo>
                <a:lnTo>
                  <a:pt x="331232" y="11668"/>
                </a:lnTo>
                <a:lnTo>
                  <a:pt x="375047" y="29289"/>
                </a:lnTo>
                <a:cubicBezTo>
                  <a:pt x="378619" y="30718"/>
                  <a:pt x="381000" y="34290"/>
                  <a:pt x="381000" y="38100"/>
                </a:cubicBezTo>
                <a:cubicBezTo>
                  <a:pt x="381000" y="41910"/>
                  <a:pt x="378619" y="45482"/>
                  <a:pt x="375047" y="46911"/>
                </a:cubicBezTo>
                <a:lnTo>
                  <a:pt x="331232" y="64532"/>
                </a:lnTo>
                <a:lnTo>
                  <a:pt x="313611" y="108347"/>
                </a:lnTo>
                <a:cubicBezTo>
                  <a:pt x="312182" y="111919"/>
                  <a:pt x="308610" y="114300"/>
                  <a:pt x="304800" y="114300"/>
                </a:cubicBezTo>
                <a:cubicBezTo>
                  <a:pt x="300990" y="114300"/>
                  <a:pt x="297418" y="111919"/>
                  <a:pt x="295989" y="108347"/>
                </a:cubicBezTo>
                <a:lnTo>
                  <a:pt x="278368" y="64532"/>
                </a:lnTo>
                <a:lnTo>
                  <a:pt x="234553" y="46911"/>
                </a:lnTo>
                <a:cubicBezTo>
                  <a:pt x="230981" y="45482"/>
                  <a:pt x="228600" y="41910"/>
                  <a:pt x="228600" y="38100"/>
                </a:cubicBezTo>
                <a:cubicBezTo>
                  <a:pt x="228600" y="34290"/>
                  <a:pt x="230981" y="30718"/>
                  <a:pt x="234553" y="29289"/>
                </a:cubicBezTo>
                <a:lnTo>
                  <a:pt x="278368" y="11668"/>
                </a:lnTo>
                <a:lnTo>
                  <a:pt x="295989" y="-32147"/>
                </a:lnTo>
                <a:cubicBezTo>
                  <a:pt x="297418" y="-35719"/>
                  <a:pt x="300990" y="-38100"/>
                  <a:pt x="304800" y="-38100"/>
                </a:cubicBezTo>
                <a:cubicBezTo>
                  <a:pt x="308610" y="-38100"/>
                  <a:pt x="312182" y="-35719"/>
                  <a:pt x="313611" y="-32147"/>
                </a:cubicBezTo>
                <a:close/>
                <a:moveTo>
                  <a:pt x="131802" y="49649"/>
                </a:moveTo>
                <a:lnTo>
                  <a:pt x="157401" y="109299"/>
                </a:lnTo>
                <a:lnTo>
                  <a:pt x="217051" y="134898"/>
                </a:lnTo>
                <a:cubicBezTo>
                  <a:pt x="224076" y="137874"/>
                  <a:pt x="228600" y="144780"/>
                  <a:pt x="228600" y="152400"/>
                </a:cubicBezTo>
                <a:cubicBezTo>
                  <a:pt x="228600" y="160020"/>
                  <a:pt x="224076" y="166926"/>
                  <a:pt x="217051" y="169902"/>
                </a:cubicBezTo>
                <a:lnTo>
                  <a:pt x="157401" y="195501"/>
                </a:lnTo>
                <a:lnTo>
                  <a:pt x="131802" y="255151"/>
                </a:lnTo>
                <a:cubicBezTo>
                  <a:pt x="128826" y="262176"/>
                  <a:pt x="121920" y="266700"/>
                  <a:pt x="114300" y="266700"/>
                </a:cubicBezTo>
                <a:cubicBezTo>
                  <a:pt x="106680" y="266700"/>
                  <a:pt x="99774" y="262176"/>
                  <a:pt x="96798" y="255151"/>
                </a:cubicBezTo>
                <a:lnTo>
                  <a:pt x="71199" y="195501"/>
                </a:lnTo>
                <a:lnTo>
                  <a:pt x="11549" y="169902"/>
                </a:lnTo>
                <a:cubicBezTo>
                  <a:pt x="4524" y="166926"/>
                  <a:pt x="0" y="160020"/>
                  <a:pt x="0" y="152400"/>
                </a:cubicBezTo>
                <a:cubicBezTo>
                  <a:pt x="0" y="144780"/>
                  <a:pt x="4524" y="137874"/>
                  <a:pt x="11549" y="134898"/>
                </a:cubicBezTo>
                <a:lnTo>
                  <a:pt x="71199" y="109299"/>
                </a:lnTo>
                <a:lnTo>
                  <a:pt x="96798" y="49649"/>
                </a:lnTo>
                <a:cubicBezTo>
                  <a:pt x="99774" y="42624"/>
                  <a:pt x="106680" y="38100"/>
                  <a:pt x="114300" y="38100"/>
                </a:cubicBezTo>
                <a:cubicBezTo>
                  <a:pt x="121920" y="38100"/>
                  <a:pt x="128826" y="42624"/>
                  <a:pt x="131802" y="49649"/>
                </a:cubicBezTo>
                <a:close/>
                <a:moveTo>
                  <a:pt x="552450" y="361950"/>
                </a:moveTo>
                <a:cubicBezTo>
                  <a:pt x="560070" y="361950"/>
                  <a:pt x="566976" y="366474"/>
                  <a:pt x="569952" y="373499"/>
                </a:cubicBezTo>
                <a:lnTo>
                  <a:pt x="595551" y="433149"/>
                </a:lnTo>
                <a:lnTo>
                  <a:pt x="655201" y="458748"/>
                </a:lnTo>
                <a:cubicBezTo>
                  <a:pt x="662226" y="461724"/>
                  <a:pt x="666750" y="468630"/>
                  <a:pt x="666750" y="476250"/>
                </a:cubicBezTo>
                <a:cubicBezTo>
                  <a:pt x="666750" y="483870"/>
                  <a:pt x="662226" y="490776"/>
                  <a:pt x="655201" y="493752"/>
                </a:cubicBezTo>
                <a:lnTo>
                  <a:pt x="595551" y="519351"/>
                </a:lnTo>
                <a:lnTo>
                  <a:pt x="569952" y="579001"/>
                </a:lnTo>
                <a:cubicBezTo>
                  <a:pt x="566976" y="586026"/>
                  <a:pt x="560070" y="590550"/>
                  <a:pt x="552450" y="590550"/>
                </a:cubicBezTo>
                <a:cubicBezTo>
                  <a:pt x="544830" y="590550"/>
                  <a:pt x="537924" y="586026"/>
                  <a:pt x="534948" y="579001"/>
                </a:cubicBezTo>
                <a:lnTo>
                  <a:pt x="509349" y="519351"/>
                </a:lnTo>
                <a:lnTo>
                  <a:pt x="449699" y="493752"/>
                </a:lnTo>
                <a:cubicBezTo>
                  <a:pt x="442674" y="490776"/>
                  <a:pt x="438150" y="483870"/>
                  <a:pt x="438150" y="476250"/>
                </a:cubicBezTo>
                <a:cubicBezTo>
                  <a:pt x="438150" y="468630"/>
                  <a:pt x="442674" y="461724"/>
                  <a:pt x="449699" y="458748"/>
                </a:cubicBezTo>
                <a:lnTo>
                  <a:pt x="509349" y="433149"/>
                </a:lnTo>
                <a:lnTo>
                  <a:pt x="534948" y="373499"/>
                </a:lnTo>
                <a:cubicBezTo>
                  <a:pt x="537924" y="366474"/>
                  <a:pt x="544830" y="361950"/>
                  <a:pt x="552450" y="361950"/>
                </a:cubicBezTo>
                <a:close/>
                <a:moveTo>
                  <a:pt x="547688" y="0"/>
                </a:moveTo>
                <a:cubicBezTo>
                  <a:pt x="560784" y="0"/>
                  <a:pt x="573405" y="5239"/>
                  <a:pt x="582811" y="14526"/>
                </a:cubicBezTo>
                <a:lnTo>
                  <a:pt x="633174" y="64889"/>
                </a:lnTo>
                <a:cubicBezTo>
                  <a:pt x="642461" y="74295"/>
                  <a:pt x="647700" y="86916"/>
                  <a:pt x="647700" y="100013"/>
                </a:cubicBezTo>
                <a:cubicBezTo>
                  <a:pt x="647700" y="113109"/>
                  <a:pt x="642461" y="125730"/>
                  <a:pt x="633174" y="135136"/>
                </a:cubicBezTo>
                <a:lnTo>
                  <a:pt x="528161" y="240149"/>
                </a:lnTo>
                <a:lnTo>
                  <a:pt x="407551" y="119539"/>
                </a:lnTo>
                <a:lnTo>
                  <a:pt x="512564" y="14526"/>
                </a:lnTo>
                <a:cubicBezTo>
                  <a:pt x="521970" y="5239"/>
                  <a:pt x="534591" y="0"/>
                  <a:pt x="547688" y="0"/>
                </a:cubicBezTo>
                <a:close/>
                <a:moveTo>
                  <a:pt x="52626" y="474464"/>
                </a:moveTo>
                <a:lnTo>
                  <a:pt x="367189" y="159901"/>
                </a:lnTo>
                <a:lnTo>
                  <a:pt x="487799" y="280511"/>
                </a:lnTo>
                <a:lnTo>
                  <a:pt x="173236" y="595074"/>
                </a:lnTo>
                <a:cubicBezTo>
                  <a:pt x="163830" y="604361"/>
                  <a:pt x="151209" y="609600"/>
                  <a:pt x="138113" y="609600"/>
                </a:cubicBezTo>
                <a:cubicBezTo>
                  <a:pt x="125016" y="609600"/>
                  <a:pt x="112395" y="604361"/>
                  <a:pt x="102989" y="595074"/>
                </a:cubicBezTo>
                <a:lnTo>
                  <a:pt x="52626" y="544711"/>
                </a:lnTo>
                <a:cubicBezTo>
                  <a:pt x="43339" y="535305"/>
                  <a:pt x="38100" y="522684"/>
                  <a:pt x="38100" y="509588"/>
                </a:cubicBezTo>
                <a:cubicBezTo>
                  <a:pt x="38100" y="496491"/>
                  <a:pt x="43339" y="483870"/>
                  <a:pt x="52626" y="474464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2159000" y="5740400"/>
            <a:ext cx="1295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it works:</a:t>
            </a: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engine analyzes fund performance metrics (CAGR, Sharpe, Sortino) and risk indicators (volatility, drawdown, VaR) to match funds with investor risk profiles, generating personalized top fund recommendations.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Key Results &amp; Findings</a:t>
            </a:r>
            <a:endParaRPr b="0" i="0" sz="1600" u="none" cap="none" strike="noStrike"/>
          </a:p>
        </p:txBody>
      </p:sp>
      <p:sp>
        <p:nvSpPr>
          <p:cNvPr id="347" name="Google Shape;347;p14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1600" u="none" cap="none" strike="noStrike"/>
          </a:p>
        </p:txBody>
      </p:sp>
      <p:sp>
        <p:nvSpPr>
          <p:cNvPr id="348" name="Google Shape;348;p14"/>
          <p:cNvSpPr/>
          <p:nvPr/>
        </p:nvSpPr>
        <p:spPr>
          <a:xfrm>
            <a:off x="812800" y="965200"/>
            <a:ext cx="3505200" cy="1397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812800" y="965200"/>
            <a:ext cx="350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965200" y="11176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&gt;20%</a:t>
            </a:r>
            <a:endParaRPr b="0" i="0" sz="1600" u="none" cap="none" strike="noStrike"/>
          </a:p>
        </p:txBody>
      </p:sp>
      <p:sp>
        <p:nvSpPr>
          <p:cNvPr id="351" name="Google Shape;351;p14"/>
          <p:cNvSpPr/>
          <p:nvPr/>
        </p:nvSpPr>
        <p:spPr>
          <a:xfrm>
            <a:off x="965200" y="1701800"/>
            <a:ext cx="314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Several funds achieved CAGR greater than 20%</a:t>
            </a:r>
            <a:endParaRPr b="0" i="0" sz="1600" u="none" cap="none" strike="noStrike"/>
          </a:p>
        </p:txBody>
      </p:sp>
      <p:sp>
        <p:nvSpPr>
          <p:cNvPr id="352" name="Google Shape;352;p14"/>
          <p:cNvSpPr/>
          <p:nvPr/>
        </p:nvSpPr>
        <p:spPr>
          <a:xfrm>
            <a:off x="4521200" y="965200"/>
            <a:ext cx="3505200" cy="1397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4521200" y="965200"/>
            <a:ext cx="350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4673600" y="11176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Strong</a:t>
            </a:r>
            <a:endParaRPr b="0" i="0" sz="1600" u="none" cap="none" strike="noStrike"/>
          </a:p>
        </p:txBody>
      </p:sp>
      <p:sp>
        <p:nvSpPr>
          <p:cNvPr id="355" name="Google Shape;355;p14"/>
          <p:cNvSpPr/>
          <p:nvPr/>
        </p:nvSpPr>
        <p:spPr>
          <a:xfrm>
            <a:off x="4673600" y="1701800"/>
            <a:ext cx="314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Relationship observed between return and volatility</a:t>
            </a:r>
            <a:endParaRPr b="0" i="0" sz="1600" u="none" cap="none" strike="noStrike"/>
          </a:p>
        </p:txBody>
      </p:sp>
      <p:sp>
        <p:nvSpPr>
          <p:cNvPr id="356" name="Google Shape;356;p14"/>
          <p:cNvSpPr/>
          <p:nvPr/>
        </p:nvSpPr>
        <p:spPr>
          <a:xfrm>
            <a:off x="8229600" y="965200"/>
            <a:ext cx="3505200" cy="1397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8229600" y="965200"/>
            <a:ext cx="350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8382000" y="11176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Ranked</a:t>
            </a:r>
            <a:endParaRPr b="0" i="0" sz="1600" u="none" cap="none" strike="noStrike"/>
          </a:p>
        </p:txBody>
      </p:sp>
      <p:sp>
        <p:nvSpPr>
          <p:cNvPr id="359" name="Google Shape;359;p14"/>
          <p:cNvSpPr/>
          <p:nvPr/>
        </p:nvSpPr>
        <p:spPr>
          <a:xfrm>
            <a:off x="8382000" y="1701800"/>
            <a:ext cx="314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Risk-adjusted rankings identified high quality funds</a:t>
            </a:r>
            <a:endParaRPr b="0" i="0" sz="1600" u="none" cap="none" strike="noStrike"/>
          </a:p>
        </p:txBody>
      </p:sp>
      <p:sp>
        <p:nvSpPr>
          <p:cNvPr id="360" name="Google Shape;360;p14"/>
          <p:cNvSpPr/>
          <p:nvPr/>
        </p:nvSpPr>
        <p:spPr>
          <a:xfrm>
            <a:off x="11938000" y="965200"/>
            <a:ext cx="3505200" cy="1397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11938000" y="965200"/>
            <a:ext cx="35052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12090400" y="11176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Profiled</a:t>
            </a:r>
            <a:endParaRPr b="0" i="0" sz="1600" u="none" cap="none" strike="noStrike"/>
          </a:p>
        </p:txBody>
      </p:sp>
      <p:sp>
        <p:nvSpPr>
          <p:cNvPr id="363" name="Google Shape;363;p14"/>
          <p:cNvSpPr/>
          <p:nvPr/>
        </p:nvSpPr>
        <p:spPr>
          <a:xfrm>
            <a:off x="12090400" y="1701800"/>
            <a:ext cx="314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Recommendation engine generated profile-based suggestions</a:t>
            </a:r>
            <a:endParaRPr b="0" i="0" sz="1600" u="none" cap="none" strike="noStrike"/>
          </a:p>
        </p:txBody>
      </p:sp>
      <p:sp>
        <p:nvSpPr>
          <p:cNvPr id="364" name="Google Shape;364;p14"/>
          <p:cNvSpPr/>
          <p:nvPr/>
        </p:nvSpPr>
        <p:spPr>
          <a:xfrm>
            <a:off x="812800" y="26924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Detailed Findings</a:t>
            </a:r>
            <a:endParaRPr b="0" i="0" sz="1600" u="none" cap="none" strike="noStrike"/>
          </a:p>
        </p:txBody>
      </p:sp>
      <p:sp>
        <p:nvSpPr>
          <p:cNvPr id="365" name="Google Shape;365;p14"/>
          <p:cNvSpPr/>
          <p:nvPr/>
        </p:nvSpPr>
        <p:spPr>
          <a:xfrm>
            <a:off x="812800" y="3251200"/>
            <a:ext cx="14630400" cy="8636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1016000" y="3530600"/>
            <a:ext cx="127000" cy="127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1320800" y="3352800"/>
            <a:ext cx="138684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CAGR Analysis: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Multiple equity funds demonstrated CAGR exceeding 20% over a 5-year horizon, significantly outperforming benchmark indices</a:t>
            </a:r>
            <a:endParaRPr b="0" i="0" sz="1600" u="none" cap="none" strike="noStrike"/>
          </a:p>
        </p:txBody>
      </p:sp>
      <p:sp>
        <p:nvSpPr>
          <p:cNvPr id="368" name="Google Shape;368;p14"/>
          <p:cNvSpPr/>
          <p:nvPr/>
        </p:nvSpPr>
        <p:spPr>
          <a:xfrm>
            <a:off x="812800" y="4267200"/>
            <a:ext cx="14630400" cy="8636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1016000" y="4546600"/>
            <a:ext cx="127000" cy="127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1320800" y="4368800"/>
            <a:ext cx="138684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Risk-Return Correlation: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Strong positive correlation observed between historical returns and volatility, validating modern portfolio theory assumptions</a:t>
            </a:r>
            <a:endParaRPr b="0" i="0" sz="1600" u="none" cap="none" strike="noStrike"/>
          </a:p>
        </p:txBody>
      </p:sp>
      <p:sp>
        <p:nvSpPr>
          <p:cNvPr id="371" name="Google Shape;371;p14"/>
          <p:cNvSpPr/>
          <p:nvPr/>
        </p:nvSpPr>
        <p:spPr>
          <a:xfrm>
            <a:off x="812800" y="5283200"/>
            <a:ext cx="14630400" cy="8636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1016000" y="5562600"/>
            <a:ext cx="127000" cy="127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1320800" y="5384800"/>
            <a:ext cx="138684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Impact:</a:t>
            </a:r>
            <a:r>
              <a:rPr b="0" i="0" lang="en-US" sz="1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unified analytics dashboard simplified complex fund analysis from hours of manual research to minutes of interactive exploration</a:t>
            </a:r>
            <a:endParaRPr b="0" i="0" sz="1600" u="none" cap="none" strike="noStrike"/>
          </a:p>
        </p:txBody>
      </p:sp>
      <p:pic>
        <p:nvPicPr>
          <p:cNvPr id="374" name="Google Shape;3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6400800"/>
            <a:ext cx="146304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B33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/>
          <p:nvPr/>
        </p:nvSpPr>
        <p:spPr>
          <a:xfrm>
            <a:off x="812800" y="406400"/>
            <a:ext cx="1397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Live Dashboard Deployment</a:t>
            </a:r>
            <a:endParaRPr b="0" i="0" sz="1600" u="none" cap="none" strike="noStrike"/>
          </a:p>
        </p:txBody>
      </p:sp>
      <p:sp>
        <p:nvSpPr>
          <p:cNvPr id="381" name="Google Shape;381;p15"/>
          <p:cNvSpPr/>
          <p:nvPr/>
        </p:nvSpPr>
        <p:spPr>
          <a:xfrm>
            <a:off x="15113000" y="4572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600" u="none" cap="none" strike="noStrike"/>
          </a:p>
        </p:txBody>
      </p:sp>
      <p:sp>
        <p:nvSpPr>
          <p:cNvPr id="382" name="Google Shape;382;p15"/>
          <p:cNvSpPr/>
          <p:nvPr/>
        </p:nvSpPr>
        <p:spPr>
          <a:xfrm>
            <a:off x="1778000" y="1270000"/>
            <a:ext cx="12700000" cy="889000"/>
          </a:xfrm>
          <a:prstGeom prst="rect">
            <a:avLst/>
          </a:prstGeom>
          <a:solidFill>
            <a:srgbClr val="FFFFFF">
              <a:alpha val="8235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2133600" y="1498600"/>
            <a:ext cx="457200" cy="406400"/>
          </a:xfrm>
          <a:custGeom>
            <a:rect b="b" l="l" r="r" t="t"/>
            <a:pathLst>
              <a:path extrusionOk="0" h="406400" w="4572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2768600" y="1270000"/>
            <a:ext cx="1143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https://mutualfundanalytics-a5cjfcqbqf5bb9bjydutnb.streamlit.app/</a:t>
            </a:r>
            <a:endParaRPr b="0" i="0" sz="1600" u="none" cap="none" strike="noStrike"/>
          </a:p>
        </p:txBody>
      </p:sp>
      <p:sp>
        <p:nvSpPr>
          <p:cNvPr id="385" name="Google Shape;385;p15"/>
          <p:cNvSpPr/>
          <p:nvPr/>
        </p:nvSpPr>
        <p:spPr>
          <a:xfrm>
            <a:off x="812800" y="25400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0E0EF"/>
                </a:solidFill>
                <a:latin typeface="Oranienbaum"/>
                <a:ea typeface="Oranienbaum"/>
                <a:cs typeface="Oranienbaum"/>
                <a:sym typeface="Oranienbaum"/>
              </a:rPr>
              <a:t>Deployment Features</a:t>
            </a:r>
            <a:endParaRPr b="0" i="0" sz="1600" u="none" cap="none" strike="noStrike"/>
          </a:p>
        </p:txBody>
      </p:sp>
      <p:cxnSp>
        <p:nvCxnSpPr>
          <p:cNvPr id="386" name="Google Shape;386;p15"/>
          <p:cNvCxnSpPr/>
          <p:nvPr/>
        </p:nvCxnSpPr>
        <p:spPr>
          <a:xfrm>
            <a:off x="812800" y="3022600"/>
            <a:ext cx="127000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15"/>
          <p:cNvSpPr/>
          <p:nvPr/>
        </p:nvSpPr>
        <p:spPr>
          <a:xfrm>
            <a:off x="812800" y="3352800"/>
            <a:ext cx="4699000" cy="1270000"/>
          </a:xfrm>
          <a:prstGeom prst="rect">
            <a:avLst/>
          </a:pr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1041400" y="3657600"/>
            <a:ext cx="457200" cy="406400"/>
          </a:xfrm>
          <a:custGeom>
            <a:rect b="b" l="l" r="r" t="t"/>
            <a:pathLst>
              <a:path extrusionOk="0" h="406400" w="4572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1651000" y="35560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Cloud Hosted</a:t>
            </a:r>
            <a:endParaRPr b="0" i="0" sz="1600" u="none" cap="none" strike="noStrike"/>
          </a:p>
        </p:txBody>
      </p:sp>
      <p:sp>
        <p:nvSpPr>
          <p:cNvPr id="390" name="Google Shape;390;p15"/>
          <p:cNvSpPr/>
          <p:nvPr/>
        </p:nvSpPr>
        <p:spPr>
          <a:xfrm>
            <a:off x="1651000" y="3886200"/>
            <a:ext cx="3657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Deployed on Streamlit Cloud with 24/7 availability</a:t>
            </a:r>
            <a:endParaRPr b="0" i="0" sz="1600" u="none" cap="none" strike="noStrike"/>
          </a:p>
        </p:txBody>
      </p:sp>
      <p:sp>
        <p:nvSpPr>
          <p:cNvPr id="391" name="Google Shape;391;p15"/>
          <p:cNvSpPr/>
          <p:nvPr/>
        </p:nvSpPr>
        <p:spPr>
          <a:xfrm>
            <a:off x="5765800" y="3352800"/>
            <a:ext cx="4699000" cy="1270000"/>
          </a:xfrm>
          <a:prstGeom prst="rect">
            <a:avLst/>
          </a:pr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6019800" y="3657600"/>
            <a:ext cx="406400" cy="406400"/>
          </a:xfrm>
          <a:custGeom>
            <a:rect b="b" l="l" r="r" t="t"/>
            <a:pathLst>
              <a:path extrusionOk="0" h="406400" w="406400">
                <a:moveTo>
                  <a:pt x="25400" y="50800"/>
                </a:moveTo>
                <a:cubicBezTo>
                  <a:pt x="11351" y="50800"/>
                  <a:pt x="0" y="62151"/>
                  <a:pt x="0" y="76200"/>
                </a:cubicBezTo>
                <a:cubicBezTo>
                  <a:pt x="0" y="90249"/>
                  <a:pt x="11351" y="101600"/>
                  <a:pt x="25400" y="101600"/>
                </a:cubicBezTo>
                <a:lnTo>
                  <a:pt x="94218" y="101600"/>
                </a:lnTo>
                <a:cubicBezTo>
                  <a:pt x="103981" y="124063"/>
                  <a:pt x="126365" y="139700"/>
                  <a:pt x="152400" y="139700"/>
                </a:cubicBezTo>
                <a:cubicBezTo>
                  <a:pt x="178435" y="139700"/>
                  <a:pt x="200819" y="124063"/>
                  <a:pt x="210582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210582" y="50800"/>
                </a:lnTo>
                <a:cubicBezTo>
                  <a:pt x="200819" y="28337"/>
                  <a:pt x="178435" y="12700"/>
                  <a:pt x="152400" y="12700"/>
                </a:cubicBezTo>
                <a:cubicBezTo>
                  <a:pt x="126365" y="12700"/>
                  <a:pt x="103981" y="28337"/>
                  <a:pt x="94218" y="50800"/>
                </a:cubicBezTo>
                <a:lnTo>
                  <a:pt x="25400" y="50800"/>
                </a:lnTo>
                <a:close/>
                <a:moveTo>
                  <a:pt x="25400" y="177800"/>
                </a:move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221218" y="228600"/>
                </a:lnTo>
                <a:cubicBezTo>
                  <a:pt x="230981" y="251063"/>
                  <a:pt x="253365" y="266700"/>
                  <a:pt x="279400" y="266700"/>
                </a:cubicBezTo>
                <a:cubicBezTo>
                  <a:pt x="305435" y="266700"/>
                  <a:pt x="327819" y="251063"/>
                  <a:pt x="337582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337582" y="177800"/>
                </a:lnTo>
                <a:cubicBezTo>
                  <a:pt x="327819" y="155337"/>
                  <a:pt x="305435" y="139700"/>
                  <a:pt x="279400" y="139700"/>
                </a:cubicBezTo>
                <a:cubicBezTo>
                  <a:pt x="253365" y="139700"/>
                  <a:pt x="230981" y="155337"/>
                  <a:pt x="221218" y="177800"/>
                </a:cubicBezTo>
                <a:lnTo>
                  <a:pt x="25400" y="177800"/>
                </a:lnTo>
                <a:close/>
                <a:moveTo>
                  <a:pt x="25400" y="304800"/>
                </a:moveTo>
                <a:cubicBezTo>
                  <a:pt x="11351" y="304800"/>
                  <a:pt x="0" y="316151"/>
                  <a:pt x="0" y="330200"/>
                </a:cubicBezTo>
                <a:cubicBezTo>
                  <a:pt x="0" y="344249"/>
                  <a:pt x="11351" y="355600"/>
                  <a:pt x="25400" y="355600"/>
                </a:cubicBezTo>
                <a:lnTo>
                  <a:pt x="68818" y="355600"/>
                </a:lnTo>
                <a:cubicBezTo>
                  <a:pt x="78581" y="378063"/>
                  <a:pt x="100965" y="393700"/>
                  <a:pt x="127000" y="393700"/>
                </a:cubicBezTo>
                <a:cubicBezTo>
                  <a:pt x="153035" y="393700"/>
                  <a:pt x="175419" y="378063"/>
                  <a:pt x="185182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85182" y="304800"/>
                </a:lnTo>
                <a:cubicBezTo>
                  <a:pt x="175419" y="282337"/>
                  <a:pt x="153035" y="266700"/>
                  <a:pt x="127000" y="266700"/>
                </a:cubicBezTo>
                <a:cubicBezTo>
                  <a:pt x="100965" y="266700"/>
                  <a:pt x="78581" y="282337"/>
                  <a:pt x="68818" y="304800"/>
                </a:cubicBezTo>
                <a:lnTo>
                  <a:pt x="25400" y="304800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6604000" y="35560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Interactive Filters</a:t>
            </a:r>
            <a:endParaRPr b="0" i="0" sz="1600" u="none" cap="none" strike="noStrike"/>
          </a:p>
        </p:txBody>
      </p:sp>
      <p:sp>
        <p:nvSpPr>
          <p:cNvPr id="394" name="Google Shape;394;p15"/>
          <p:cNvSpPr/>
          <p:nvPr/>
        </p:nvSpPr>
        <p:spPr>
          <a:xfrm>
            <a:off x="6604000" y="3886200"/>
            <a:ext cx="3657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filtering by category, risk, and returns</a:t>
            </a:r>
            <a:endParaRPr b="0" i="0" sz="1600" u="none" cap="none" strike="noStrike"/>
          </a:p>
        </p:txBody>
      </p:sp>
      <p:sp>
        <p:nvSpPr>
          <p:cNvPr id="395" name="Google Shape;395;p15"/>
          <p:cNvSpPr/>
          <p:nvPr/>
        </p:nvSpPr>
        <p:spPr>
          <a:xfrm>
            <a:off x="10718800" y="3352800"/>
            <a:ext cx="4724400" cy="1270000"/>
          </a:xfrm>
          <a:prstGeom prst="rect">
            <a:avLst/>
          </a:pr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10998200" y="3657600"/>
            <a:ext cx="355600" cy="406400"/>
          </a:xfrm>
          <a:custGeom>
            <a:rect b="b" l="l" r="r" t="t"/>
            <a:pathLst>
              <a:path extrusionOk="0" h="406400" w="3556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1557000" y="35560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Real-Time Experience</a:t>
            </a:r>
            <a:endParaRPr b="0" i="0" sz="1600" u="none" cap="none" strike="noStrike"/>
          </a:p>
        </p:txBody>
      </p:sp>
      <p:sp>
        <p:nvSpPr>
          <p:cNvPr id="398" name="Google Shape;398;p15"/>
          <p:cNvSpPr/>
          <p:nvPr/>
        </p:nvSpPr>
        <p:spPr>
          <a:xfrm>
            <a:off x="11557000" y="3886200"/>
            <a:ext cx="3657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dashboard updates with instant visual feedback</a:t>
            </a:r>
            <a:endParaRPr b="0" i="0" sz="1600" u="none" cap="none" strike="noStrike"/>
          </a:p>
        </p:txBody>
      </p:sp>
      <p:sp>
        <p:nvSpPr>
          <p:cNvPr id="399" name="Google Shape;399;p15"/>
          <p:cNvSpPr/>
          <p:nvPr/>
        </p:nvSpPr>
        <p:spPr>
          <a:xfrm>
            <a:off x="812800" y="4876800"/>
            <a:ext cx="4699000" cy="1270000"/>
          </a:xfrm>
          <a:prstGeom prst="rect">
            <a:avLst/>
          </a:pr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1092200" y="5181600"/>
            <a:ext cx="355600" cy="406400"/>
          </a:xfrm>
          <a:custGeom>
            <a:rect b="b" l="l" r="r" t="t"/>
            <a:pathLst>
              <a:path extrusionOk="0" h="406400" w="355600">
                <a:moveTo>
                  <a:pt x="203200" y="25400"/>
                </a:moveTo>
                <a:cubicBezTo>
                  <a:pt x="203200" y="11351"/>
                  <a:pt x="191849" y="0"/>
                  <a:pt x="177800" y="0"/>
                </a:cubicBezTo>
                <a:cubicBezTo>
                  <a:pt x="163751" y="0"/>
                  <a:pt x="152400" y="11351"/>
                  <a:pt x="152400" y="25400"/>
                </a:cubicBezTo>
                <a:lnTo>
                  <a:pt x="152400" y="192643"/>
                </a:lnTo>
                <a:lnTo>
                  <a:pt x="119539" y="159782"/>
                </a:lnTo>
                <a:cubicBezTo>
                  <a:pt x="109617" y="149860"/>
                  <a:pt x="93504" y="149860"/>
                  <a:pt x="83582" y="159782"/>
                </a:cubicBezTo>
                <a:cubicBezTo>
                  <a:pt x="73660" y="169704"/>
                  <a:pt x="73660" y="185817"/>
                  <a:pt x="83582" y="195739"/>
                </a:cubicBezTo>
                <a:lnTo>
                  <a:pt x="159782" y="271939"/>
                </a:lnTo>
                <a:cubicBezTo>
                  <a:pt x="169704" y="281861"/>
                  <a:pt x="185817" y="281861"/>
                  <a:pt x="195739" y="271939"/>
                </a:cubicBezTo>
                <a:lnTo>
                  <a:pt x="271939" y="195739"/>
                </a:lnTo>
                <a:cubicBezTo>
                  <a:pt x="281861" y="185817"/>
                  <a:pt x="281861" y="169704"/>
                  <a:pt x="271939" y="159782"/>
                </a:cubicBezTo>
                <a:cubicBezTo>
                  <a:pt x="262017" y="149860"/>
                  <a:pt x="245904" y="149860"/>
                  <a:pt x="235982" y="159782"/>
                </a:cubicBezTo>
                <a:lnTo>
                  <a:pt x="203200" y="192643"/>
                </a:lnTo>
                <a:lnTo>
                  <a:pt x="203200" y="25400"/>
                </a:lnTo>
                <a:close/>
                <a:moveTo>
                  <a:pt x="50800" y="254000"/>
                </a:moveTo>
                <a:cubicBezTo>
                  <a:pt x="22781" y="254000"/>
                  <a:pt x="0" y="276781"/>
                  <a:pt x="0" y="3048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304800"/>
                </a:lnTo>
                <a:cubicBezTo>
                  <a:pt x="355600" y="276781"/>
                  <a:pt x="332819" y="254000"/>
                  <a:pt x="304800" y="254000"/>
                </a:cubicBezTo>
                <a:lnTo>
                  <a:pt x="267573" y="254000"/>
                </a:lnTo>
                <a:lnTo>
                  <a:pt x="222647" y="298926"/>
                </a:lnTo>
                <a:cubicBezTo>
                  <a:pt x="197882" y="323691"/>
                  <a:pt x="157639" y="323691"/>
                  <a:pt x="132874" y="298926"/>
                </a:cubicBezTo>
                <a:lnTo>
                  <a:pt x="88027" y="254000"/>
                </a:lnTo>
                <a:lnTo>
                  <a:pt x="50800" y="254000"/>
                </a:lnTo>
                <a:close/>
                <a:moveTo>
                  <a:pt x="292100" y="298450"/>
                </a:moveTo>
                <a:cubicBezTo>
                  <a:pt x="302614" y="298450"/>
                  <a:pt x="311150" y="306986"/>
                  <a:pt x="311150" y="317500"/>
                </a:cubicBezTo>
                <a:cubicBezTo>
                  <a:pt x="311150" y="328014"/>
                  <a:pt x="302614" y="336550"/>
                  <a:pt x="292100" y="336550"/>
                </a:cubicBezTo>
                <a:cubicBezTo>
                  <a:pt x="281586" y="336550"/>
                  <a:pt x="273050" y="328014"/>
                  <a:pt x="273050" y="317500"/>
                </a:cubicBezTo>
                <a:cubicBezTo>
                  <a:pt x="273050" y="306986"/>
                  <a:pt x="281586" y="298450"/>
                  <a:pt x="292100" y="29845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1651000" y="50800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Download Functionality</a:t>
            </a:r>
            <a:endParaRPr b="0" i="0" sz="1600" u="none" cap="none" strike="noStrike"/>
          </a:p>
        </p:txBody>
      </p:sp>
      <p:sp>
        <p:nvSpPr>
          <p:cNvPr id="402" name="Google Shape;402;p15"/>
          <p:cNvSpPr/>
          <p:nvPr/>
        </p:nvSpPr>
        <p:spPr>
          <a:xfrm>
            <a:off x="1651000" y="5410200"/>
            <a:ext cx="3657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Export analysis results and fund reports as CSV</a:t>
            </a:r>
            <a:endParaRPr b="0" i="0" sz="1600" u="none" cap="none" strike="noStrike"/>
          </a:p>
        </p:txBody>
      </p:sp>
      <p:sp>
        <p:nvSpPr>
          <p:cNvPr id="403" name="Google Shape;403;p15"/>
          <p:cNvSpPr/>
          <p:nvPr/>
        </p:nvSpPr>
        <p:spPr>
          <a:xfrm>
            <a:off x="5765800" y="4876800"/>
            <a:ext cx="4699000" cy="1270000"/>
          </a:xfrm>
          <a:prstGeom prst="rect">
            <a:avLst/>
          </a:pr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6019800" y="5181600"/>
            <a:ext cx="406400" cy="406400"/>
          </a:xfrm>
          <a:custGeom>
            <a:rect b="b" l="l" r="r" t="t"/>
            <a:pathLst>
              <a:path extrusionOk="0" h="406400" w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6604000" y="50800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Public Accessibility</a:t>
            </a:r>
            <a:endParaRPr b="0" i="0" sz="1600" u="none" cap="none" strike="noStrike"/>
          </a:p>
        </p:txBody>
      </p:sp>
      <p:sp>
        <p:nvSpPr>
          <p:cNvPr id="406" name="Google Shape;406;p15"/>
          <p:cNvSpPr/>
          <p:nvPr/>
        </p:nvSpPr>
        <p:spPr>
          <a:xfrm>
            <a:off x="6604000" y="5410200"/>
            <a:ext cx="3657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Anyone can access the dashboard via web browser</a:t>
            </a:r>
            <a:endParaRPr b="0" i="0" sz="1600" u="none" cap="none" strike="noStrike"/>
          </a:p>
        </p:txBody>
      </p:sp>
      <p:cxnSp>
        <p:nvCxnSpPr>
          <p:cNvPr id="407" name="Google Shape;407;p15"/>
          <p:cNvCxnSpPr/>
          <p:nvPr/>
        </p:nvCxnSpPr>
        <p:spPr>
          <a:xfrm>
            <a:off x="812800" y="6604000"/>
            <a:ext cx="146304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1254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5"/>
          <p:cNvSpPr/>
          <p:nvPr/>
        </p:nvSpPr>
        <p:spPr>
          <a:xfrm>
            <a:off x="812800" y="6858000"/>
            <a:ext cx="14630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r>
              <a:rPr b="0" i="0" lang="en-US" sz="16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Dashboard is Live and Accessible  |  </a:t>
            </a: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r>
              <a:rPr b="0" i="0" lang="en-US" sz="16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Built with Streamlit + Python  |  </a:t>
            </a: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r>
              <a:rPr b="0" i="0" lang="en-US" sz="16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Deployed June 2026  |  </a:t>
            </a: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r>
              <a:rPr b="0" i="0" lang="en-US" sz="1600" u="none" cap="none" strike="noStrike">
                <a:solidFill>
                  <a:srgbClr val="B0D2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/>
              </a:rPr>
              <a:t>Github Repository</a:t>
            </a:r>
            <a:r>
              <a:rPr b="0" i="0" lang="en-US" sz="16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Future Enhancements</a:t>
            </a:r>
            <a:endParaRPr b="0" i="0" sz="1600" u="none" cap="none" strike="noStrike"/>
          </a:p>
        </p:txBody>
      </p:sp>
      <p:sp>
        <p:nvSpPr>
          <p:cNvPr id="416" name="Google Shape;416;p16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1600" u="none" cap="none" strike="noStrike"/>
          </a:p>
        </p:txBody>
      </p:sp>
      <p:sp>
        <p:nvSpPr>
          <p:cNvPr id="417" name="Google Shape;417;p16"/>
          <p:cNvSpPr/>
          <p:nvPr/>
        </p:nvSpPr>
        <p:spPr>
          <a:xfrm>
            <a:off x="812800" y="1016000"/>
            <a:ext cx="46990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812800" y="1016000"/>
            <a:ext cx="4699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1016000" y="1270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161131" y="0"/>
                </a:moveTo>
                <a:cubicBezTo>
                  <a:pt x="268506" y="0"/>
                  <a:pt x="355600" y="87094"/>
                  <a:pt x="355600" y="194469"/>
                </a:cubicBezTo>
                <a:cubicBezTo>
                  <a:pt x="355600" y="203706"/>
                  <a:pt x="348169" y="211138"/>
                  <a:pt x="338931" y="211138"/>
                </a:cubicBezTo>
                <a:cubicBezTo>
                  <a:pt x="329694" y="211138"/>
                  <a:pt x="322263" y="203706"/>
                  <a:pt x="322263" y="194469"/>
                </a:cubicBezTo>
                <a:cubicBezTo>
                  <a:pt x="322263" y="105499"/>
                  <a:pt x="250101" y="33337"/>
                  <a:pt x="161131" y="33337"/>
                </a:cubicBezTo>
                <a:cubicBezTo>
                  <a:pt x="151894" y="33337"/>
                  <a:pt x="144463" y="25906"/>
                  <a:pt x="144463" y="16669"/>
                </a:cubicBezTo>
                <a:cubicBezTo>
                  <a:pt x="144463" y="7431"/>
                  <a:pt x="151894" y="0"/>
                  <a:pt x="161131" y="0"/>
                </a:cubicBezTo>
                <a:close/>
                <a:moveTo>
                  <a:pt x="144463" y="83344"/>
                </a:moveTo>
                <a:cubicBezTo>
                  <a:pt x="144463" y="74106"/>
                  <a:pt x="151894" y="66675"/>
                  <a:pt x="161131" y="66675"/>
                </a:cubicBezTo>
                <a:cubicBezTo>
                  <a:pt x="231696" y="66675"/>
                  <a:pt x="288925" y="123904"/>
                  <a:pt x="288925" y="194469"/>
                </a:cubicBezTo>
                <a:cubicBezTo>
                  <a:pt x="288925" y="203706"/>
                  <a:pt x="281494" y="211138"/>
                  <a:pt x="272256" y="211138"/>
                </a:cubicBezTo>
                <a:cubicBezTo>
                  <a:pt x="263019" y="211138"/>
                  <a:pt x="255587" y="203706"/>
                  <a:pt x="255587" y="194469"/>
                </a:cubicBezTo>
                <a:cubicBezTo>
                  <a:pt x="255587" y="142309"/>
                  <a:pt x="213291" y="100013"/>
                  <a:pt x="161131" y="100013"/>
                </a:cubicBezTo>
                <a:cubicBezTo>
                  <a:pt x="151894" y="100013"/>
                  <a:pt x="144463" y="92581"/>
                  <a:pt x="144463" y="83344"/>
                </a:cubicBezTo>
                <a:close/>
                <a:moveTo>
                  <a:pt x="18336" y="99110"/>
                </a:moveTo>
                <a:cubicBezTo>
                  <a:pt x="24448" y="86678"/>
                  <a:pt x="40838" y="85288"/>
                  <a:pt x="50631" y="95081"/>
                </a:cubicBezTo>
                <a:lnTo>
                  <a:pt x="139879" y="184329"/>
                </a:lnTo>
                <a:lnTo>
                  <a:pt x="162104" y="162104"/>
                </a:lnTo>
                <a:cubicBezTo>
                  <a:pt x="170785" y="153422"/>
                  <a:pt x="184884" y="153422"/>
                  <a:pt x="193566" y="162104"/>
                </a:cubicBezTo>
                <a:cubicBezTo>
                  <a:pt x="202248" y="170785"/>
                  <a:pt x="202248" y="184884"/>
                  <a:pt x="193566" y="193566"/>
                </a:cubicBezTo>
                <a:lnTo>
                  <a:pt x="171341" y="215791"/>
                </a:lnTo>
                <a:lnTo>
                  <a:pt x="260588" y="305038"/>
                </a:lnTo>
                <a:cubicBezTo>
                  <a:pt x="270381" y="314831"/>
                  <a:pt x="268922" y="331153"/>
                  <a:pt x="256560" y="337334"/>
                </a:cubicBezTo>
                <a:cubicBezTo>
                  <a:pt x="232807" y="349071"/>
                  <a:pt x="206137" y="355669"/>
                  <a:pt x="177869" y="355669"/>
                </a:cubicBezTo>
                <a:cubicBezTo>
                  <a:pt x="79663" y="355669"/>
                  <a:pt x="69" y="276076"/>
                  <a:pt x="69" y="177869"/>
                </a:cubicBezTo>
                <a:cubicBezTo>
                  <a:pt x="69" y="149602"/>
                  <a:pt x="6667" y="122863"/>
                  <a:pt x="18405" y="99179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1473200" y="12700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Live Mutual Fund APIs</a:t>
            </a:r>
            <a:endParaRPr b="0" i="0" sz="1600" u="none" cap="none" strike="noStrike"/>
          </a:p>
        </p:txBody>
      </p:sp>
      <p:sp>
        <p:nvSpPr>
          <p:cNvPr id="421" name="Google Shape;421;p16"/>
          <p:cNvSpPr/>
          <p:nvPr/>
        </p:nvSpPr>
        <p:spPr>
          <a:xfrm>
            <a:off x="1016000" y="17018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data feeds from AMFI and other financial data providers</a:t>
            </a:r>
            <a:endParaRPr b="0" i="0" sz="1600" u="none" cap="none" strike="noStrike"/>
          </a:p>
        </p:txBody>
      </p:sp>
      <p:sp>
        <p:nvSpPr>
          <p:cNvPr id="422" name="Google Shape;422;p16"/>
          <p:cNvSpPr/>
          <p:nvPr/>
        </p:nvSpPr>
        <p:spPr>
          <a:xfrm>
            <a:off x="5765800" y="1016000"/>
            <a:ext cx="46990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5765800" y="1016000"/>
            <a:ext cx="4699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5991225" y="1270000"/>
            <a:ext cx="311150" cy="355600"/>
          </a:xfrm>
          <a:custGeom>
            <a:rect b="b" l="l" r="r" t="t"/>
            <a:pathLst>
              <a:path extrusionOk="0" h="355600" w="31115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6426200" y="12700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PostgreSQL Migration</a:t>
            </a:r>
            <a:endParaRPr b="0" i="0" sz="1600" u="none" cap="none" strike="noStrike"/>
          </a:p>
        </p:txBody>
      </p:sp>
      <p:sp>
        <p:nvSpPr>
          <p:cNvPr id="426" name="Google Shape;426;p16"/>
          <p:cNvSpPr/>
          <p:nvPr/>
        </p:nvSpPr>
        <p:spPr>
          <a:xfrm>
            <a:off x="5969000" y="17018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Scalable database solution for handling larger datasets</a:t>
            </a:r>
            <a:endParaRPr b="0" i="0" sz="1600" u="none" cap="none" strike="noStrike"/>
          </a:p>
        </p:txBody>
      </p:sp>
      <p:sp>
        <p:nvSpPr>
          <p:cNvPr id="427" name="Google Shape;427;p16"/>
          <p:cNvSpPr/>
          <p:nvPr/>
        </p:nvSpPr>
        <p:spPr>
          <a:xfrm>
            <a:off x="10718800" y="1016000"/>
            <a:ext cx="47244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10718800" y="1016000"/>
            <a:ext cx="4724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10899775" y="1270000"/>
            <a:ext cx="400050" cy="355600"/>
          </a:xfrm>
          <a:custGeom>
            <a:rect b="b" l="l" r="r" t="t"/>
            <a:pathLst>
              <a:path extrusionOk="0" h="355600" w="40005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11379200" y="1270000"/>
            <a:ext cx="3860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Portfolio Optimization</a:t>
            </a:r>
            <a:endParaRPr b="0" i="0" sz="1600" u="none" cap="none" strike="noStrike"/>
          </a:p>
        </p:txBody>
      </p:sp>
      <p:sp>
        <p:nvSpPr>
          <p:cNvPr id="431" name="Google Shape;431;p16"/>
          <p:cNvSpPr/>
          <p:nvPr/>
        </p:nvSpPr>
        <p:spPr>
          <a:xfrm>
            <a:off x="10922000" y="17018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Portfolio Theory based optimal allocation suggestions</a:t>
            </a:r>
            <a:endParaRPr b="0" i="0" sz="1600" u="none" cap="none" strike="noStrike"/>
          </a:p>
        </p:txBody>
      </p:sp>
      <p:sp>
        <p:nvSpPr>
          <p:cNvPr id="432" name="Google Shape;432;p16"/>
          <p:cNvSpPr/>
          <p:nvPr/>
        </p:nvSpPr>
        <p:spPr>
          <a:xfrm>
            <a:off x="812800" y="2895600"/>
            <a:ext cx="46990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812800" y="2895600"/>
            <a:ext cx="4699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1016000" y="3149600"/>
            <a:ext cx="355600" cy="355600"/>
          </a:xfrm>
          <a:custGeom>
            <a:rect b="b" l="l" r="r" t="t"/>
            <a:pathLst>
              <a:path extrusionOk="0" h="355600" w="355600">
                <a:moveTo>
                  <a:pt x="98207" y="1597"/>
                </a:moveTo>
                <a:cubicBezTo>
                  <a:pt x="71537" y="-5556"/>
                  <a:pt x="44103" y="10279"/>
                  <a:pt x="37019" y="36949"/>
                </a:cubicBezTo>
                <a:lnTo>
                  <a:pt x="1736" y="168563"/>
                </a:lnTo>
                <a:cubicBezTo>
                  <a:pt x="-5417" y="195233"/>
                  <a:pt x="10418" y="222667"/>
                  <a:pt x="37088" y="229820"/>
                </a:cubicBezTo>
                <a:lnTo>
                  <a:pt x="168702" y="265103"/>
                </a:lnTo>
                <a:cubicBezTo>
                  <a:pt x="195372" y="272256"/>
                  <a:pt x="222806" y="256421"/>
                  <a:pt x="229959" y="229751"/>
                </a:cubicBezTo>
                <a:lnTo>
                  <a:pt x="265241" y="98137"/>
                </a:lnTo>
                <a:cubicBezTo>
                  <a:pt x="272395" y="71467"/>
                  <a:pt x="256560" y="44033"/>
                  <a:pt x="229890" y="36880"/>
                </a:cubicBezTo>
                <a:lnTo>
                  <a:pt x="98207" y="1597"/>
                </a:lnTo>
                <a:close/>
                <a:moveTo>
                  <a:pt x="114181" y="144463"/>
                </a:moveTo>
                <a:cubicBezTo>
                  <a:pt x="109957" y="137575"/>
                  <a:pt x="109803" y="128937"/>
                  <a:pt x="113780" y="121904"/>
                </a:cubicBezTo>
                <a:cubicBezTo>
                  <a:pt x="117757" y="114871"/>
                  <a:pt x="125238" y="110550"/>
                  <a:pt x="133317" y="110619"/>
                </a:cubicBezTo>
                <a:cubicBezTo>
                  <a:pt x="141397" y="110688"/>
                  <a:pt x="148802" y="115137"/>
                  <a:pt x="152658" y="122238"/>
                </a:cubicBezTo>
                <a:cubicBezTo>
                  <a:pt x="156882" y="129125"/>
                  <a:pt x="157035" y="137763"/>
                  <a:pt x="153059" y="144796"/>
                </a:cubicBezTo>
                <a:cubicBezTo>
                  <a:pt x="149082" y="151829"/>
                  <a:pt x="141601" y="156150"/>
                  <a:pt x="133522" y="156081"/>
                </a:cubicBezTo>
                <a:cubicBezTo>
                  <a:pt x="125442" y="156012"/>
                  <a:pt x="118037" y="151563"/>
                  <a:pt x="114181" y="144463"/>
                </a:cubicBezTo>
                <a:close/>
                <a:moveTo>
                  <a:pt x="55007" y="153005"/>
                </a:moveTo>
                <a:cubicBezTo>
                  <a:pt x="61895" y="148781"/>
                  <a:pt x="70532" y="148628"/>
                  <a:pt x="77565" y="152605"/>
                </a:cubicBezTo>
                <a:cubicBezTo>
                  <a:pt x="84599" y="156582"/>
                  <a:pt x="88920" y="164062"/>
                  <a:pt x="88850" y="172142"/>
                </a:cubicBezTo>
                <a:cubicBezTo>
                  <a:pt x="88781" y="180221"/>
                  <a:pt x="84332" y="187627"/>
                  <a:pt x="77232" y="191482"/>
                </a:cubicBezTo>
                <a:cubicBezTo>
                  <a:pt x="70344" y="195706"/>
                  <a:pt x="61707" y="195860"/>
                  <a:pt x="54673" y="191883"/>
                </a:cubicBezTo>
                <a:cubicBezTo>
                  <a:pt x="47640" y="187906"/>
                  <a:pt x="43319" y="180425"/>
                  <a:pt x="43388" y="172346"/>
                </a:cubicBezTo>
                <a:cubicBezTo>
                  <a:pt x="43458" y="164266"/>
                  <a:pt x="47906" y="156861"/>
                  <a:pt x="55007" y="153005"/>
                </a:cubicBezTo>
                <a:close/>
                <a:moveTo>
                  <a:pt x="183495" y="219958"/>
                </a:moveTo>
                <a:cubicBezTo>
                  <a:pt x="176607" y="224182"/>
                  <a:pt x="167970" y="224336"/>
                  <a:pt x="160937" y="220359"/>
                </a:cubicBezTo>
                <a:cubicBezTo>
                  <a:pt x="153903" y="216382"/>
                  <a:pt x="149582" y="208901"/>
                  <a:pt x="149652" y="200822"/>
                </a:cubicBezTo>
                <a:cubicBezTo>
                  <a:pt x="149721" y="192742"/>
                  <a:pt x="154170" y="185337"/>
                  <a:pt x="161270" y="181481"/>
                </a:cubicBezTo>
                <a:cubicBezTo>
                  <a:pt x="168158" y="177257"/>
                  <a:pt x="176795" y="177103"/>
                  <a:pt x="183829" y="181080"/>
                </a:cubicBezTo>
                <a:cubicBezTo>
                  <a:pt x="190862" y="185057"/>
                  <a:pt x="195183" y="192538"/>
                  <a:pt x="195114" y="200617"/>
                </a:cubicBezTo>
                <a:cubicBezTo>
                  <a:pt x="195044" y="208697"/>
                  <a:pt x="190596" y="216102"/>
                  <a:pt x="183495" y="219958"/>
                </a:cubicBezTo>
                <a:close/>
                <a:moveTo>
                  <a:pt x="189746" y="75218"/>
                </a:moveTo>
                <a:cubicBezTo>
                  <a:pt x="196634" y="70994"/>
                  <a:pt x="205271" y="70840"/>
                  <a:pt x="212304" y="74817"/>
                </a:cubicBezTo>
                <a:cubicBezTo>
                  <a:pt x="219338" y="78794"/>
                  <a:pt x="223659" y="86275"/>
                  <a:pt x="223589" y="94354"/>
                </a:cubicBezTo>
                <a:cubicBezTo>
                  <a:pt x="223520" y="102434"/>
                  <a:pt x="219071" y="109839"/>
                  <a:pt x="211971" y="113695"/>
                </a:cubicBezTo>
                <a:cubicBezTo>
                  <a:pt x="205083" y="117919"/>
                  <a:pt x="196446" y="118072"/>
                  <a:pt x="189412" y="114095"/>
                </a:cubicBezTo>
                <a:cubicBezTo>
                  <a:pt x="182379" y="110118"/>
                  <a:pt x="178058" y="102638"/>
                  <a:pt x="178127" y="94558"/>
                </a:cubicBezTo>
                <a:cubicBezTo>
                  <a:pt x="178197" y="86479"/>
                  <a:pt x="182645" y="79073"/>
                  <a:pt x="189746" y="75218"/>
                </a:cubicBezTo>
                <a:close/>
                <a:moveTo>
                  <a:pt x="105708" y="85219"/>
                </a:moveTo>
                <a:cubicBezTo>
                  <a:pt x="98820" y="89443"/>
                  <a:pt x="90182" y="89597"/>
                  <a:pt x="83149" y="85620"/>
                </a:cubicBezTo>
                <a:cubicBezTo>
                  <a:pt x="76116" y="81643"/>
                  <a:pt x="71795" y="74162"/>
                  <a:pt x="71864" y="66083"/>
                </a:cubicBezTo>
                <a:cubicBezTo>
                  <a:pt x="71934" y="58003"/>
                  <a:pt x="76382" y="50598"/>
                  <a:pt x="83483" y="46742"/>
                </a:cubicBezTo>
                <a:cubicBezTo>
                  <a:pt x="90370" y="42518"/>
                  <a:pt x="99008" y="42364"/>
                  <a:pt x="106041" y="46341"/>
                </a:cubicBezTo>
                <a:cubicBezTo>
                  <a:pt x="113074" y="50318"/>
                  <a:pt x="117395" y="57799"/>
                  <a:pt x="117326" y="65878"/>
                </a:cubicBezTo>
                <a:cubicBezTo>
                  <a:pt x="117257" y="73958"/>
                  <a:pt x="112808" y="81363"/>
                  <a:pt x="105708" y="85219"/>
                </a:cubicBezTo>
                <a:close/>
                <a:moveTo>
                  <a:pt x="290314" y="133350"/>
                </a:moveTo>
                <a:lnTo>
                  <a:pt x="262116" y="238363"/>
                </a:lnTo>
                <a:cubicBezTo>
                  <a:pt x="250170" y="282813"/>
                  <a:pt x="204470" y="309205"/>
                  <a:pt x="160020" y="297329"/>
                </a:cubicBezTo>
                <a:lnTo>
                  <a:pt x="133419" y="290175"/>
                </a:lnTo>
                <a:lnTo>
                  <a:pt x="133419" y="311150"/>
                </a:lnTo>
                <a:cubicBezTo>
                  <a:pt x="133419" y="335667"/>
                  <a:pt x="153352" y="355600"/>
                  <a:pt x="177869" y="355600"/>
                </a:cubicBezTo>
                <a:lnTo>
                  <a:pt x="311219" y="355600"/>
                </a:lnTo>
                <a:cubicBezTo>
                  <a:pt x="335736" y="355600"/>
                  <a:pt x="355669" y="335667"/>
                  <a:pt x="355669" y="311150"/>
                </a:cubicBezTo>
                <a:lnTo>
                  <a:pt x="355669" y="177800"/>
                </a:lnTo>
                <a:cubicBezTo>
                  <a:pt x="355669" y="153283"/>
                  <a:pt x="335736" y="133350"/>
                  <a:pt x="311219" y="133350"/>
                </a:cubicBezTo>
                <a:lnTo>
                  <a:pt x="290314" y="133350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1473200" y="3149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Monte Carlo Simulations</a:t>
            </a:r>
            <a:endParaRPr b="0" i="0" sz="1600" u="none" cap="none" strike="noStrike"/>
          </a:p>
        </p:txBody>
      </p:sp>
      <p:sp>
        <p:nvSpPr>
          <p:cNvPr id="436" name="Google Shape;436;p16"/>
          <p:cNvSpPr/>
          <p:nvPr/>
        </p:nvSpPr>
        <p:spPr>
          <a:xfrm>
            <a:off x="1016000" y="35814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Probabilistic return forecasting using simulation models</a:t>
            </a:r>
            <a:endParaRPr b="0" i="0" sz="1600" u="none" cap="none" strike="noStrike"/>
          </a:p>
        </p:txBody>
      </p:sp>
      <p:sp>
        <p:nvSpPr>
          <p:cNvPr id="437" name="Google Shape;437;p16"/>
          <p:cNvSpPr/>
          <p:nvPr/>
        </p:nvSpPr>
        <p:spPr>
          <a:xfrm>
            <a:off x="5765800" y="2895600"/>
            <a:ext cx="46990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5765800" y="2895600"/>
            <a:ext cx="46990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5969000" y="3149600"/>
            <a:ext cx="355600" cy="355600"/>
          </a:xfrm>
          <a:custGeom>
            <a:rect b="b" l="l" r="r" t="t"/>
            <a:pathLst>
              <a:path extrusionOk="0" h="355600" w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6426200" y="3149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Advanced ML Recommendations</a:t>
            </a:r>
            <a:endParaRPr b="0" i="0" sz="1600" u="none" cap="none" strike="noStrike"/>
          </a:p>
        </p:txBody>
      </p:sp>
      <p:sp>
        <p:nvSpPr>
          <p:cNvPr id="441" name="Google Shape;441;p16"/>
          <p:cNvSpPr/>
          <p:nvPr/>
        </p:nvSpPr>
        <p:spPr>
          <a:xfrm>
            <a:off x="5969000" y="35814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Collaborative filtering and content-based recommendation models</a:t>
            </a:r>
            <a:endParaRPr b="0" i="0" sz="1600" u="none" cap="none" strike="noStrike"/>
          </a:p>
        </p:txBody>
      </p:sp>
      <p:sp>
        <p:nvSpPr>
          <p:cNvPr id="442" name="Google Shape;442;p16"/>
          <p:cNvSpPr/>
          <p:nvPr/>
        </p:nvSpPr>
        <p:spPr>
          <a:xfrm>
            <a:off x="10718800" y="2895600"/>
            <a:ext cx="4724400" cy="16510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10718800" y="2895600"/>
            <a:ext cx="4724400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10966450" y="3149600"/>
            <a:ext cx="266700" cy="355600"/>
          </a:xfrm>
          <a:custGeom>
            <a:rect b="b" l="l" r="r" t="t"/>
            <a:pathLst>
              <a:path extrusionOk="0" h="355600" w="2667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11379200" y="3149600"/>
            <a:ext cx="3860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3A5C"/>
                </a:solidFill>
                <a:latin typeface="Oranienbaum"/>
                <a:ea typeface="Oranienbaum"/>
                <a:cs typeface="Oranienbaum"/>
                <a:sym typeface="Oranienbaum"/>
              </a:rPr>
              <a:t>Automated Reports</a:t>
            </a:r>
            <a:endParaRPr b="0" i="0" sz="1600" u="none" cap="none" strike="noStrike"/>
          </a:p>
        </p:txBody>
      </p:sp>
      <p:sp>
        <p:nvSpPr>
          <p:cNvPr id="446" name="Google Shape;446;p16"/>
          <p:cNvSpPr/>
          <p:nvPr/>
        </p:nvSpPr>
        <p:spPr>
          <a:xfrm>
            <a:off x="10922000" y="35814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Scheduled PDF and email report generation for portfolios</a:t>
            </a:r>
            <a:endParaRPr b="0" i="0" sz="1600" u="none" cap="none" strike="noStrike"/>
          </a:p>
        </p:txBody>
      </p:sp>
      <p:sp>
        <p:nvSpPr>
          <p:cNvPr id="447" name="Google Shape;447;p16"/>
          <p:cNvSpPr/>
          <p:nvPr/>
        </p:nvSpPr>
        <p:spPr>
          <a:xfrm>
            <a:off x="812800" y="4775200"/>
            <a:ext cx="14630400" cy="165100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1327150" y="5283200"/>
            <a:ext cx="342900" cy="457200"/>
          </a:xfrm>
          <a:custGeom>
            <a:rect b="b" l="l" r="r" t="t"/>
            <a:pathLst>
              <a:path extrusionOk="0" h="457200" w="3429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114300" y="392906"/>
                </a:moveTo>
                <a:cubicBezTo>
                  <a:pt x="114300" y="404783"/>
                  <a:pt x="123855" y="414338"/>
                  <a:pt x="135731" y="414338"/>
                </a:cubicBezTo>
                <a:lnTo>
                  <a:pt x="207169" y="414338"/>
                </a:lnTo>
                <a:cubicBezTo>
                  <a:pt x="219045" y="414338"/>
                  <a:pt x="228600" y="404783"/>
                  <a:pt x="228600" y="392906"/>
                </a:cubicBezTo>
                <a:cubicBezTo>
                  <a:pt x="228600" y="381030"/>
                  <a:pt x="219045" y="371475"/>
                  <a:pt x="207169" y="371475"/>
                </a:cubicBezTo>
                <a:lnTo>
                  <a:pt x="135731" y="371475"/>
                </a:lnTo>
                <a:cubicBezTo>
                  <a:pt x="123855" y="371475"/>
                  <a:pt x="114300" y="381030"/>
                  <a:pt x="114300" y="392906"/>
                </a:cubicBezTo>
                <a:close/>
                <a:moveTo>
                  <a:pt x="271463" y="57150"/>
                </a:moveTo>
                <a:lnTo>
                  <a:pt x="71438" y="57150"/>
                </a:ln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1981200" y="5080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Oranienbaum"/>
                <a:ea typeface="Oranienbaum"/>
                <a:cs typeface="Oranienbaum"/>
                <a:sym typeface="Oranienbaum"/>
              </a:rPr>
              <a:t>Mobile Responsive Design</a:t>
            </a:r>
            <a:endParaRPr b="0" i="0" sz="1600" u="none" cap="none" strike="noStrike"/>
          </a:p>
        </p:txBody>
      </p:sp>
      <p:sp>
        <p:nvSpPr>
          <p:cNvPr id="450" name="Google Shape;450;p16"/>
          <p:cNvSpPr/>
          <p:nvPr/>
        </p:nvSpPr>
        <p:spPr>
          <a:xfrm>
            <a:off x="1981200" y="5486400"/>
            <a:ext cx="1295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Fully responsive dashboard design optimized for mobile and tablet devices, enabling on-the-go fund analysis and portfolio monitoring.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B33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"/>
          <p:cNvSpPr/>
          <p:nvPr/>
        </p:nvSpPr>
        <p:spPr>
          <a:xfrm>
            <a:off x="812800" y="406400"/>
            <a:ext cx="1397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Conclusion</a:t>
            </a:r>
            <a:endParaRPr b="0" i="0" sz="1600" u="none" cap="none" strike="noStrike"/>
          </a:p>
        </p:txBody>
      </p:sp>
      <p:sp>
        <p:nvSpPr>
          <p:cNvPr id="457" name="Google Shape;457;p17"/>
          <p:cNvSpPr/>
          <p:nvPr/>
        </p:nvSpPr>
        <p:spPr>
          <a:xfrm>
            <a:off x="15113000" y="4572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1600" u="none" cap="none" strike="noStrike"/>
          </a:p>
        </p:txBody>
      </p:sp>
      <p:sp>
        <p:nvSpPr>
          <p:cNvPr id="458" name="Google Shape;458;p17"/>
          <p:cNvSpPr/>
          <p:nvPr/>
        </p:nvSpPr>
        <p:spPr>
          <a:xfrm>
            <a:off x="1270000" y="1270000"/>
            <a:ext cx="13716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project successfully combines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analytics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financial analytics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 management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 learning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development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into a unified mutual fund analytics solution.</a:t>
            </a:r>
            <a:endParaRPr b="0" i="0" sz="1600" u="none" cap="none" strike="noStrike"/>
          </a:p>
        </p:txBody>
      </p:sp>
      <p:cxnSp>
        <p:nvCxnSpPr>
          <p:cNvPr id="459" name="Google Shape;459;p17"/>
          <p:cNvCxnSpPr/>
          <p:nvPr/>
        </p:nvCxnSpPr>
        <p:spPr>
          <a:xfrm>
            <a:off x="5588000" y="2667000"/>
            <a:ext cx="508000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0" name="Google Shape;460;p17"/>
          <p:cNvSpPr/>
          <p:nvPr/>
        </p:nvSpPr>
        <p:spPr>
          <a:xfrm>
            <a:off x="1270000" y="3048000"/>
            <a:ext cx="4318000" cy="2286000"/>
          </a:xfrm>
          <a:prstGeom prst="rect">
            <a:avLst/>
          </a:pr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2921000" y="3352800"/>
            <a:ext cx="609600" cy="609600"/>
          </a:xfrm>
          <a:custGeom>
            <a:rect b="b" l="l" r="r" t="t"/>
            <a:pathLst>
              <a:path extrusionOk="0" h="609600" w="609600">
                <a:moveTo>
                  <a:pt x="323731" y="24051"/>
                </a:moveTo>
                <a:cubicBezTo>
                  <a:pt x="312063" y="17383"/>
                  <a:pt x="297656" y="17383"/>
                  <a:pt x="285869" y="24051"/>
                </a:cubicBezTo>
                <a:lnTo>
                  <a:pt x="19169" y="176451"/>
                </a:lnTo>
                <a:cubicBezTo>
                  <a:pt x="4167" y="185023"/>
                  <a:pt x="-3215" y="202644"/>
                  <a:pt x="1191" y="219313"/>
                </a:cubicBezTo>
                <a:cubicBezTo>
                  <a:pt x="5596" y="235982"/>
                  <a:pt x="20836" y="247650"/>
                  <a:pt x="38100" y="247650"/>
                </a:cubicBezTo>
                <a:lnTo>
                  <a:pt x="76200" y="247650"/>
                </a:lnTo>
                <a:lnTo>
                  <a:pt x="76200" y="495300"/>
                </a:lnTo>
                <a:lnTo>
                  <a:pt x="76200" y="495300"/>
                </a:lnTo>
                <a:lnTo>
                  <a:pt x="15240" y="541020"/>
                </a:lnTo>
                <a:cubicBezTo>
                  <a:pt x="5596" y="548164"/>
                  <a:pt x="0" y="559475"/>
                  <a:pt x="0" y="571500"/>
                </a:cubicBezTo>
                <a:cubicBezTo>
                  <a:pt x="0" y="592574"/>
                  <a:pt x="17026" y="609600"/>
                  <a:pt x="38100" y="609600"/>
                </a:cubicBezTo>
                <a:lnTo>
                  <a:pt x="571500" y="609600"/>
                </a:lnTo>
                <a:cubicBezTo>
                  <a:pt x="592574" y="609600"/>
                  <a:pt x="609600" y="592574"/>
                  <a:pt x="609600" y="571500"/>
                </a:cubicBezTo>
                <a:cubicBezTo>
                  <a:pt x="609600" y="559475"/>
                  <a:pt x="604004" y="548164"/>
                  <a:pt x="594360" y="541020"/>
                </a:cubicBezTo>
                <a:lnTo>
                  <a:pt x="533400" y="495300"/>
                </a:lnTo>
                <a:lnTo>
                  <a:pt x="533400" y="247650"/>
                </a:lnTo>
                <a:lnTo>
                  <a:pt x="571500" y="247650"/>
                </a:lnTo>
                <a:cubicBezTo>
                  <a:pt x="588764" y="247650"/>
                  <a:pt x="603885" y="235982"/>
                  <a:pt x="608290" y="219313"/>
                </a:cubicBezTo>
                <a:cubicBezTo>
                  <a:pt x="612696" y="202644"/>
                  <a:pt x="605314" y="185023"/>
                  <a:pt x="590312" y="176451"/>
                </a:cubicBezTo>
                <a:lnTo>
                  <a:pt x="323612" y="24051"/>
                </a:lnTo>
                <a:close/>
                <a:moveTo>
                  <a:pt x="476250" y="247650"/>
                </a:moveTo>
                <a:lnTo>
                  <a:pt x="476250" y="495300"/>
                </a:lnTo>
                <a:lnTo>
                  <a:pt x="400050" y="495300"/>
                </a:lnTo>
                <a:lnTo>
                  <a:pt x="400050" y="247650"/>
                </a:lnTo>
                <a:lnTo>
                  <a:pt x="476250" y="247650"/>
                </a:lnTo>
                <a:close/>
                <a:moveTo>
                  <a:pt x="342900" y="247650"/>
                </a:moveTo>
                <a:lnTo>
                  <a:pt x="342900" y="495300"/>
                </a:lnTo>
                <a:lnTo>
                  <a:pt x="266700" y="495300"/>
                </a:lnTo>
                <a:lnTo>
                  <a:pt x="266700" y="247650"/>
                </a:lnTo>
                <a:lnTo>
                  <a:pt x="342900" y="247650"/>
                </a:lnTo>
                <a:close/>
                <a:moveTo>
                  <a:pt x="209550" y="247650"/>
                </a:moveTo>
                <a:lnTo>
                  <a:pt x="209550" y="495300"/>
                </a:lnTo>
                <a:lnTo>
                  <a:pt x="133350" y="495300"/>
                </a:lnTo>
                <a:lnTo>
                  <a:pt x="133350" y="247650"/>
                </a:lnTo>
                <a:lnTo>
                  <a:pt x="209550" y="247650"/>
                </a:lnTo>
                <a:close/>
                <a:moveTo>
                  <a:pt x="304800" y="114300"/>
                </a:moveTo>
                <a:cubicBezTo>
                  <a:pt x="325828" y="114300"/>
                  <a:pt x="342900" y="131372"/>
                  <a:pt x="342900" y="152400"/>
                </a:cubicBezTo>
                <a:cubicBezTo>
                  <a:pt x="342900" y="173428"/>
                  <a:pt x="325828" y="190500"/>
                  <a:pt x="304800" y="190500"/>
                </a:cubicBezTo>
                <a:cubicBezTo>
                  <a:pt x="283772" y="190500"/>
                  <a:pt x="266700" y="173428"/>
                  <a:pt x="266700" y="152400"/>
                </a:cubicBezTo>
                <a:cubicBezTo>
                  <a:pt x="266700" y="131372"/>
                  <a:pt x="283772" y="114300"/>
                  <a:pt x="304800" y="1143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1524000" y="41148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Practical Fintech Application</a:t>
            </a:r>
            <a:endParaRPr b="0" i="0" sz="1600" u="none" cap="none" strike="noStrike"/>
          </a:p>
        </p:txBody>
      </p:sp>
      <p:sp>
        <p:nvSpPr>
          <p:cNvPr id="463" name="Google Shape;463;p17"/>
          <p:cNvSpPr/>
          <p:nvPr/>
        </p:nvSpPr>
        <p:spPr>
          <a:xfrm>
            <a:off x="1524000" y="452120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financial analytics solution for investment decision-making</a:t>
            </a:r>
            <a:endParaRPr b="0" i="0" sz="1600" u="none" cap="none" strike="noStrike"/>
          </a:p>
        </p:txBody>
      </p:sp>
      <p:sp>
        <p:nvSpPr>
          <p:cNvPr id="464" name="Google Shape;464;p17"/>
          <p:cNvSpPr/>
          <p:nvPr/>
        </p:nvSpPr>
        <p:spPr>
          <a:xfrm>
            <a:off x="5969000" y="3048000"/>
            <a:ext cx="4318000" cy="2286000"/>
          </a:xfrm>
          <a:prstGeom prst="rect">
            <a:avLst/>
          </a:pr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7620000" y="3352800"/>
            <a:ext cx="609600" cy="609600"/>
          </a:xfrm>
          <a:custGeom>
            <a:rect b="b" l="l" r="r" t="t"/>
            <a:pathLst>
              <a:path extrusionOk="0" h="609600" w="609600">
                <a:moveTo>
                  <a:pt x="38100" y="38100"/>
                </a:moveTo>
                <a:cubicBezTo>
                  <a:pt x="59174" y="38100"/>
                  <a:pt x="76200" y="55126"/>
                  <a:pt x="76200" y="76200"/>
                </a:cubicBezTo>
                <a:lnTo>
                  <a:pt x="76200" y="476250"/>
                </a:lnTo>
                <a:cubicBezTo>
                  <a:pt x="76200" y="486728"/>
                  <a:pt x="84773" y="495300"/>
                  <a:pt x="95250" y="495300"/>
                </a:cubicBezTo>
                <a:lnTo>
                  <a:pt x="571500" y="495300"/>
                </a:lnTo>
                <a:cubicBezTo>
                  <a:pt x="592574" y="495300"/>
                  <a:pt x="609600" y="512326"/>
                  <a:pt x="609600" y="533400"/>
                </a:cubicBezTo>
                <a:cubicBezTo>
                  <a:pt x="609600" y="554474"/>
                  <a:pt x="592574" y="571500"/>
                  <a:pt x="571500" y="571500"/>
                </a:cubicBezTo>
                <a:lnTo>
                  <a:pt x="95250" y="571500"/>
                </a:lnTo>
                <a:cubicBezTo>
                  <a:pt x="42624" y="571500"/>
                  <a:pt x="0" y="528876"/>
                  <a:pt x="0" y="476250"/>
                </a:cubicBezTo>
                <a:lnTo>
                  <a:pt x="0" y="76200"/>
                </a:lnTo>
                <a:cubicBezTo>
                  <a:pt x="0" y="55126"/>
                  <a:pt x="17026" y="38100"/>
                  <a:pt x="38100" y="38100"/>
                </a:cubicBezTo>
                <a:close/>
                <a:moveTo>
                  <a:pt x="171450" y="266700"/>
                </a:moveTo>
                <a:cubicBezTo>
                  <a:pt x="192524" y="266700"/>
                  <a:pt x="209550" y="283726"/>
                  <a:pt x="209550" y="304800"/>
                </a:cubicBezTo>
                <a:lnTo>
                  <a:pt x="209550" y="381000"/>
                </a:lnTo>
                <a:cubicBezTo>
                  <a:pt x="209550" y="402074"/>
                  <a:pt x="192524" y="419100"/>
                  <a:pt x="171450" y="419100"/>
                </a:cubicBezTo>
                <a:cubicBezTo>
                  <a:pt x="150376" y="419100"/>
                  <a:pt x="133350" y="402074"/>
                  <a:pt x="133350" y="381000"/>
                </a:cubicBezTo>
                <a:lnTo>
                  <a:pt x="133350" y="304800"/>
                </a:lnTo>
                <a:cubicBezTo>
                  <a:pt x="133350" y="283726"/>
                  <a:pt x="150376" y="266700"/>
                  <a:pt x="171450" y="266700"/>
                </a:cubicBezTo>
                <a:close/>
                <a:moveTo>
                  <a:pt x="342900" y="190500"/>
                </a:moveTo>
                <a:lnTo>
                  <a:pt x="342900" y="381000"/>
                </a:lnTo>
                <a:cubicBezTo>
                  <a:pt x="342900" y="402074"/>
                  <a:pt x="325874" y="419100"/>
                  <a:pt x="304800" y="419100"/>
                </a:cubicBezTo>
                <a:cubicBezTo>
                  <a:pt x="283726" y="419100"/>
                  <a:pt x="266700" y="402074"/>
                  <a:pt x="266700" y="381000"/>
                </a:cubicBezTo>
                <a:lnTo>
                  <a:pt x="266700" y="190500"/>
                </a:lnTo>
                <a:cubicBezTo>
                  <a:pt x="266700" y="169426"/>
                  <a:pt x="283726" y="152400"/>
                  <a:pt x="304800" y="152400"/>
                </a:cubicBezTo>
                <a:cubicBezTo>
                  <a:pt x="325874" y="152400"/>
                  <a:pt x="342900" y="169426"/>
                  <a:pt x="342900" y="190500"/>
                </a:cubicBezTo>
                <a:close/>
                <a:moveTo>
                  <a:pt x="438150" y="228600"/>
                </a:moveTo>
                <a:cubicBezTo>
                  <a:pt x="459224" y="228600"/>
                  <a:pt x="476250" y="245626"/>
                  <a:pt x="476250" y="266700"/>
                </a:cubicBezTo>
                <a:lnTo>
                  <a:pt x="476250" y="381000"/>
                </a:lnTo>
                <a:cubicBezTo>
                  <a:pt x="476250" y="402074"/>
                  <a:pt x="459224" y="419100"/>
                  <a:pt x="438150" y="419100"/>
                </a:cubicBezTo>
                <a:cubicBezTo>
                  <a:pt x="417076" y="419100"/>
                  <a:pt x="400050" y="402074"/>
                  <a:pt x="400050" y="381000"/>
                </a:cubicBezTo>
                <a:lnTo>
                  <a:pt x="400050" y="266700"/>
                </a:lnTo>
                <a:cubicBezTo>
                  <a:pt x="400050" y="245626"/>
                  <a:pt x="417076" y="228600"/>
                  <a:pt x="438150" y="228600"/>
                </a:cubicBezTo>
                <a:close/>
                <a:moveTo>
                  <a:pt x="609600" y="114300"/>
                </a:moveTo>
                <a:lnTo>
                  <a:pt x="609600" y="381000"/>
                </a:lnTo>
                <a:cubicBezTo>
                  <a:pt x="609600" y="402074"/>
                  <a:pt x="592574" y="419100"/>
                  <a:pt x="571500" y="419100"/>
                </a:cubicBezTo>
                <a:cubicBezTo>
                  <a:pt x="550426" y="419100"/>
                  <a:pt x="533400" y="402074"/>
                  <a:pt x="533400" y="381000"/>
                </a:cubicBezTo>
                <a:lnTo>
                  <a:pt x="533400" y="114300"/>
                </a:lnTo>
                <a:cubicBezTo>
                  <a:pt x="533400" y="93226"/>
                  <a:pt x="550426" y="76200"/>
                  <a:pt x="571500" y="76200"/>
                </a:cubicBezTo>
                <a:cubicBezTo>
                  <a:pt x="592574" y="76200"/>
                  <a:pt x="609600" y="93226"/>
                  <a:pt x="609600" y="1143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6223000" y="41148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Data-Driven Decisions</a:t>
            </a:r>
            <a:endParaRPr b="0" i="0" sz="1600" u="none" cap="none" strike="noStrike"/>
          </a:p>
        </p:txBody>
      </p:sp>
      <p:sp>
        <p:nvSpPr>
          <p:cNvPr id="467" name="Google Shape;467;p17"/>
          <p:cNvSpPr/>
          <p:nvPr/>
        </p:nvSpPr>
        <p:spPr>
          <a:xfrm>
            <a:off x="6223000" y="452120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Empowers investors with quantitative insights and recommendations</a:t>
            </a:r>
            <a:endParaRPr b="0" i="0" sz="1600" u="none" cap="none" strike="noStrike"/>
          </a:p>
        </p:txBody>
      </p:sp>
      <p:sp>
        <p:nvSpPr>
          <p:cNvPr id="468" name="Google Shape;468;p17"/>
          <p:cNvSpPr/>
          <p:nvPr/>
        </p:nvSpPr>
        <p:spPr>
          <a:xfrm>
            <a:off x="10668000" y="3048000"/>
            <a:ext cx="4318000" cy="2286000"/>
          </a:xfrm>
          <a:prstGeom prst="rect">
            <a:avLst/>
          </a:pr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7"/>
          <p:cNvSpPr/>
          <p:nvPr/>
        </p:nvSpPr>
        <p:spPr>
          <a:xfrm>
            <a:off x="12319000" y="3352800"/>
            <a:ext cx="609600" cy="609600"/>
          </a:xfrm>
          <a:custGeom>
            <a:rect b="b" l="l" r="r" t="t"/>
            <a:pathLst>
              <a:path extrusionOk="0" h="609600" w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10922000" y="41148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Successful Deployment</a:t>
            </a:r>
            <a:endParaRPr b="0" i="0" sz="1600" u="none" cap="none" strike="noStrike"/>
          </a:p>
        </p:txBody>
      </p:sp>
      <p:sp>
        <p:nvSpPr>
          <p:cNvPr id="471" name="Google Shape;471;p17"/>
          <p:cNvSpPr/>
          <p:nvPr/>
        </p:nvSpPr>
        <p:spPr>
          <a:xfrm>
            <a:off x="10922000" y="452120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cloud deployment with public accessibility and interactive features</a:t>
            </a:r>
            <a:endParaRPr b="0" i="0" sz="1600" u="none" cap="none" strike="noStrike"/>
          </a:p>
        </p:txBody>
      </p:sp>
      <p:sp>
        <p:nvSpPr>
          <p:cNvPr id="472" name="Google Shape;472;p17"/>
          <p:cNvSpPr/>
          <p:nvPr/>
        </p:nvSpPr>
        <p:spPr>
          <a:xfrm>
            <a:off x="1270000" y="5842000"/>
            <a:ext cx="13716000" cy="10160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1651000" y="5943600"/>
            <a:ext cx="129540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capstone project demonstrates proficiency in the complete data analytics pipeline — from data collection and processing to machine learning and cloud deployment — delivering a production-ready fintech analytics solution.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okc/nmd47zlpalgwu/mnt/agents/output/mutual_fund_analytics/images/6_Blue_abstract_technology_fintech.png" id="479" name="Google Shape;479;p18"/>
          <p:cNvPicPr preferRelativeResize="0"/>
          <p:nvPr/>
        </p:nvPicPr>
        <p:blipFill rotWithShape="1">
          <a:blip r:embed="rId3">
            <a:alphaModFix/>
          </a:blip>
          <a:srcRect b="7784" l="0" r="0" t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8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>
            <a:gsLst>
              <a:gs pos="0">
                <a:srgbClr val="07101E">
                  <a:alpha val="94117"/>
                </a:srgbClr>
              </a:gs>
              <a:gs pos="50000">
                <a:srgbClr val="07101E">
                  <a:alpha val="90980"/>
                </a:srgbClr>
              </a:gs>
              <a:gs pos="100000">
                <a:srgbClr val="07101E">
                  <a:alpha val="94117"/>
                </a:srgbClr>
              </a:gs>
            </a:gsLst>
            <a:lin ang="5400000" scaled="0"/>
          </a:gra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8"/>
          <p:cNvSpPr/>
          <p:nvPr/>
        </p:nvSpPr>
        <p:spPr>
          <a:xfrm>
            <a:off x="0" y="0"/>
            <a:ext cx="1524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14732000" y="7620000"/>
            <a:ext cx="1524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313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8"/>
          <p:cNvSpPr/>
          <p:nvPr/>
        </p:nvSpPr>
        <p:spPr>
          <a:xfrm>
            <a:off x="7823200" y="1778000"/>
            <a:ext cx="609600" cy="609600"/>
          </a:xfrm>
          <a:custGeom>
            <a:rect b="b" l="l" r="r" t="t"/>
            <a:pathLst>
              <a:path extrusionOk="0" h="609600" w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4" name="Google Shape;484;p18"/>
          <p:cNvCxnSpPr/>
          <p:nvPr/>
        </p:nvCxnSpPr>
        <p:spPr>
          <a:xfrm>
            <a:off x="6858000" y="2590800"/>
            <a:ext cx="2540000" cy="0"/>
          </a:xfrm>
          <a:prstGeom prst="straightConnector1">
            <a:avLst/>
          </a:prstGeom>
          <a:noFill/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18"/>
          <p:cNvCxnSpPr/>
          <p:nvPr/>
        </p:nvCxnSpPr>
        <p:spPr>
          <a:xfrm>
            <a:off x="6858000" y="2641600"/>
            <a:ext cx="2540000" cy="0"/>
          </a:xfrm>
          <a:prstGeom prst="straightConnector1">
            <a:avLst/>
          </a:prstGeom>
          <a:noFill/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" name="Google Shape;486;p18"/>
          <p:cNvSpPr/>
          <p:nvPr/>
        </p:nvSpPr>
        <p:spPr>
          <a:xfrm>
            <a:off x="3048000" y="2921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Thank You</a:t>
            </a:r>
            <a:endParaRPr b="0" i="0" sz="1600" u="none" cap="none" strike="noStrike"/>
          </a:p>
        </p:txBody>
      </p:sp>
      <p:sp>
        <p:nvSpPr>
          <p:cNvPr id="487" name="Google Shape;487;p18"/>
          <p:cNvSpPr/>
          <p:nvPr/>
        </p:nvSpPr>
        <p:spPr>
          <a:xfrm>
            <a:off x="3048000" y="3810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0E0EF"/>
                </a:solidFill>
                <a:latin typeface="Oranienbaum"/>
                <a:ea typeface="Oranienbaum"/>
                <a:cs typeface="Oranienbaum"/>
                <a:sym typeface="Oranienbaum"/>
              </a:rPr>
              <a:t>Questions &amp; Discussion</a:t>
            </a:r>
            <a:endParaRPr b="0" i="0" sz="1600" u="none" cap="none" strike="noStrike"/>
          </a:p>
        </p:txBody>
      </p:sp>
      <p:cxnSp>
        <p:nvCxnSpPr>
          <p:cNvPr id="488" name="Google Shape;488;p18"/>
          <p:cNvCxnSpPr/>
          <p:nvPr/>
        </p:nvCxnSpPr>
        <p:spPr>
          <a:xfrm>
            <a:off x="6223000" y="5588000"/>
            <a:ext cx="381000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p18"/>
          <p:cNvSpPr/>
          <p:nvPr/>
        </p:nvSpPr>
        <p:spPr>
          <a:xfrm>
            <a:off x="4318000" y="5842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Arun Vk</a:t>
            </a:r>
            <a:endParaRPr b="0" i="0" sz="1600" u="none" cap="none" strike="noStrike"/>
          </a:p>
        </p:txBody>
      </p:sp>
      <p:sp>
        <p:nvSpPr>
          <p:cNvPr id="490" name="Google Shape;490;p18"/>
          <p:cNvSpPr/>
          <p:nvPr/>
        </p:nvSpPr>
        <p:spPr>
          <a:xfrm>
            <a:off x="4318000" y="62484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0E0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Mutual Fund Analytics Dashboard</a:t>
            </a:r>
            <a:endParaRPr b="0" i="0" sz="1600" u="none" cap="none" strike="noStrike"/>
          </a:p>
        </p:txBody>
      </p:sp>
      <p:sp>
        <p:nvSpPr>
          <p:cNvPr id="491" name="Google Shape;491;p18"/>
          <p:cNvSpPr/>
          <p:nvPr/>
        </p:nvSpPr>
        <p:spPr>
          <a:xfrm>
            <a:off x="4318000" y="66040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Bluestock Fintech · Data Analyst Internship Program · June 2026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